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98" r:id="rId2"/>
    <p:sldId id="276" r:id="rId3"/>
    <p:sldId id="281" r:id="rId4"/>
    <p:sldId id="305" r:id="rId5"/>
    <p:sldId id="283" r:id="rId6"/>
    <p:sldId id="302" r:id="rId7"/>
    <p:sldId id="297" r:id="rId8"/>
    <p:sldId id="308" r:id="rId9"/>
    <p:sldId id="307" r:id="rId10"/>
    <p:sldId id="299" r:id="rId11"/>
    <p:sldId id="300" r:id="rId12"/>
    <p:sldId id="29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4660"/>
  </p:normalViewPr>
  <p:slideViewPr>
    <p:cSldViewPr snapToGrid="0">
      <p:cViewPr varScale="1">
        <p:scale>
          <a:sx n="59" d="100"/>
          <a:sy n="59" d="100"/>
        </p:scale>
        <p:origin x="98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62497F-7FC6-4687-82AD-684A25BA0571}" type="datetimeFigureOut">
              <a:rPr lang="en-US" smtClean="0"/>
              <a:t>10/10/2026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2AB4FE-C6D1-40DD-87E4-B350B8CBC254}" type="slidenum">
              <a:rPr lang="en-US" smtClean="0"/>
              <a:t>‹#›</a:t>
            </a:fld>
            <a:endParaRPr lang="en-US"/>
          </a:p>
        </p:txBody>
      </p:sp>
    </p:spTree>
    <p:extLst>
      <p:ext uri="{BB962C8B-B14F-4D97-AF65-F5344CB8AC3E}">
        <p14:creationId xmlns:p14="http://schemas.microsoft.com/office/powerpoint/2010/main" val="2184768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and welcome to this tutorial.</a:t>
            </a:r>
          </a:p>
          <a:p>
            <a:r>
              <a:rPr lang="en-US" dirty="0"/>
              <a:t>Today I will show you how to use GitHub Copilot with Playwright.</a:t>
            </a:r>
          </a:p>
          <a:p>
            <a:r>
              <a:rPr lang="en-US" dirty="0"/>
              <a:t>We will use AI to review a test file, find missing scenarios, and make our tests better.</a:t>
            </a:r>
          </a:p>
          <a:p>
            <a:r>
              <a:rPr lang="en-US" dirty="0"/>
              <a:t>This video is for manual QA engineers and beginner automation testers. You do not need to be an expert.</a:t>
            </a:r>
          </a:p>
          <a:p>
            <a:r>
              <a:rPr lang="en-US" dirty="0"/>
              <a:t>Let's get started.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video, we will learn five things.</a:t>
            </a:r>
          </a:p>
          <a:p>
            <a:r>
              <a:rPr lang="en-US" dirty="0"/>
              <a:t>First, how GitHub Copilot can help with test automation.</a:t>
            </a:r>
          </a:p>
          <a:p>
            <a:r>
              <a:rPr lang="en-US" dirty="0"/>
              <a:t>Second, how to review an existing Playwright test.</a:t>
            </a:r>
          </a:p>
          <a:p>
            <a:r>
              <a:rPr lang="en-US" dirty="0"/>
              <a:t>Third, how to find missing test scenarios.</a:t>
            </a:r>
          </a:p>
          <a:p>
            <a:r>
              <a:rPr lang="en-US" dirty="0"/>
              <a:t>Fourth, how to improve assertions and test coverage.</a:t>
            </a:r>
          </a:p>
          <a:p>
            <a:r>
              <a:rPr lang="en-US" dirty="0"/>
              <a:t>And fifth, why human review is still very important.</a:t>
            </a:r>
          </a:p>
          <a:p>
            <a:r>
              <a:rPr lang="en-US" dirty="0"/>
              <a:t>At the bottom you can see our workflow: open the test, ask Copilot, validate the findings, improve the tests, and run them. The most important step is validation. We will come back to it later.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here is what you need.</a:t>
            </a:r>
          </a:p>
          <a:p>
            <a:r>
              <a:rPr lang="en-US" dirty="0"/>
              <a:t>Visual Studio Code, GitHub Copilot access, Node.js and npm, and an existing Playwright project written in TypeScript.</a:t>
            </a:r>
          </a:p>
          <a:p>
            <a:r>
              <a:rPr lang="en-US" dirty="0"/>
              <a:t>For this video, the project is already installed and ready. So we will not spend time on setup.</a:t>
            </a:r>
          </a:p>
          <a:p>
            <a:r>
              <a:rPr lang="en-US" dirty="0"/>
              <a:t>If you want to start a new project at home, you can run npm init playwright at latest. Then run npx playwright test to check that everything works.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has two important files.</a:t>
            </a:r>
          </a:p>
          <a:p>
            <a:r>
              <a:rPr lang="en-US" dirty="0"/>
              <a:t>checkout.spec.ts is the test file. It contains the test scenarios and the assertions. Assertions are the checks, like expect total to have text.</a:t>
            </a:r>
          </a:p>
          <a:p>
            <a:r>
              <a:rPr lang="en-US" dirty="0"/>
              <a:t>CheckoutPage.ts is the page object. It contains the locators and the reusable methods, for example fill customer information.</a:t>
            </a:r>
          </a:p>
          <a:p>
            <a:r>
              <a:rPr lang="en-US" dirty="0"/>
              <a:t>The test file uses the page object.</a:t>
            </a:r>
          </a:p>
          <a:p>
            <a:r>
              <a:rPr lang="en-US" dirty="0"/>
              <a:t>We will start with the test file, because it holds the expected results. If an assertion is weak or a scenario is missing, we will see it there first.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open GitHub Copilot Chat.</a:t>
            </a:r>
          </a:p>
          <a:p>
            <a:r>
              <a:rPr lang="en-US" dirty="0"/>
              <a:t>First, open the checkout.spec.ts file in VS Code.</a:t>
            </a:r>
          </a:p>
          <a:p>
            <a:r>
              <a:rPr lang="en-US" dirty="0"/>
              <a:t>Then open the Chat view. You can use the shortcut Control, Alt, I. On Mac it is Control, Command, I. Or click the chat icon.</a:t>
            </a:r>
          </a:p>
          <a:p>
            <a:r>
              <a:rPr lang="en-US" dirty="0"/>
              <a:t>Make sure Copilot can see the test file. Keep it open, or add it as context.</a:t>
            </a:r>
          </a:p>
          <a:p>
            <a:r>
              <a:rPr lang="en-US" dirty="0"/>
              <a:t>Copilot Chat can have different modes. Ask mode answers questions. Plan mode helps you plan before you write code. Agent mode can do tasks and can change files.</a:t>
            </a:r>
          </a:p>
          <a:p>
            <a:r>
              <a:rPr lang="en-US" dirty="0"/>
              <a:t>Your version may look a little different. That is normal.</a:t>
            </a:r>
          </a:p>
          <a:p>
            <a:r>
              <a:rPr lang="en-US" dirty="0"/>
              <a:t>Today we only want a review, so we start with Ask mode. Copilot will not change any files.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checkout test file from our project. The file has three tests.</a:t>
            </a:r>
          </a:p>
          <a:p>
            <a:r>
              <a:rPr lang="en-US" dirty="0"/>
              <a:t>Here we see the first test. It completes an order from start to end.</a:t>
            </a:r>
          </a:p>
          <a:p>
            <a:r>
              <a:rPr lang="en-US" dirty="0"/>
              <a:t>Step one: add two items to the cart, a backpack and a onesie.</a:t>
            </a:r>
          </a:p>
          <a:p>
            <a:r>
              <a:rPr lang="en-US" dirty="0"/>
              <a:t>Step two: open the cart and start the checkout.</a:t>
            </a:r>
          </a:p>
          <a:p>
            <a:r>
              <a:rPr lang="en-US" dirty="0"/>
              <a:t>Step three: enter the customer information from our test data.</a:t>
            </a:r>
          </a:p>
          <a:p>
            <a:r>
              <a:rPr lang="en-US" dirty="0"/>
              <a:t>Step four: check the subtotal and the total. The subtotal must be the sum of the two prices. The total must be the subtotal plus tax.</a:t>
            </a:r>
          </a:p>
          <a:p>
            <a:r>
              <a:rPr lang="en-US" dirty="0"/>
              <a:t>Step five: finish the order and check that it is complete.</a:t>
            </a:r>
          </a:p>
          <a:p>
            <a:r>
              <a:rPr lang="en-US" dirty="0"/>
              <a:t>The other two tests check that first name and postal code are required.</a:t>
            </a:r>
          </a:p>
          <a:p>
            <a:r>
              <a:rPr lang="en-US" dirty="0"/>
              <a:t>It looks good. But is it enough? Let's ask Copilot to review it.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prompt we give to Copilot. You can pause the video and copy it.</a:t>
            </a:r>
          </a:p>
          <a:p>
            <a:r>
              <a:rPr lang="en-US" dirty="0"/>
              <a:t>The prompt has three parts.</a:t>
            </a:r>
          </a:p>
          <a:p>
            <a:r>
              <a:rPr lang="en-US" dirty="0"/>
              <a:t>First, the role. We ask Copilot to act as a senior QA automation engineer.</a:t>
            </a:r>
          </a:p>
          <a:p>
            <a:r>
              <a:rPr lang="en-US" dirty="0"/>
              <a:t>Second, what to review. Coverage of the checkout flow, the assertions, missing positive, negative and boundary scenarios, reliability, and best practices. For every finding, we want the issue, the risk, and the improvement.</a:t>
            </a:r>
          </a:p>
          <a:p>
            <a:r>
              <a:rPr lang="en-US" dirty="0"/>
              <a:t>Third, the guardrails. Do not change files. Do not run tests. Do not assume requirements. And explain in simple English.</a:t>
            </a:r>
          </a:p>
          <a:p>
            <a:r>
              <a:rPr lang="en-US" dirty="0"/>
              <a:t>The guardrails are important. They keep this a safe review.</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gives us a list of findings. Now our work as QA Engineers starts.</a:t>
            </a:r>
          </a:p>
          <a:p>
            <a:r>
              <a:rPr lang="en-US" dirty="0"/>
              <a:t>For every finding, ask these five questions.</a:t>
            </a:r>
          </a:p>
          <a:p>
            <a:r>
              <a:rPr lang="en-US" dirty="0"/>
              <a:t>Is it a real defect, or only a possible risk? Is the expected behavior in the requirements? Could the assertion fail for the wrong reason? Is an important scenario missing? Does the advice follow Playwright best practices?</a:t>
            </a:r>
          </a:p>
          <a:p>
            <a:r>
              <a:rPr lang="en-US" dirty="0"/>
              <a:t>Here is an example finding about our checkout test. This is an example I wrote, not a real Copilot answer.</a:t>
            </a:r>
          </a:p>
          <a:p>
            <a:r>
              <a:rPr lang="en-US" dirty="0"/>
              <a:t>It says: the test checks that total equals subtotal plus tax, but it never checks the tax amount. So if tax is zero or wrong, the test still passes.</a:t>
            </a:r>
          </a:p>
          <a:p>
            <a:r>
              <a:rPr lang="en-US" dirty="0"/>
              <a:t>First I check the code. Yes, this is true. No assertion checks the tax alone.</a:t>
            </a:r>
          </a:p>
          <a:p>
            <a:r>
              <a:rPr lang="en-US" dirty="0"/>
              <a:t>Then I check the requirements. Is there a tax rule? If yes, I add a tax assertion. If not, I ask the product owner.</a:t>
            </a:r>
          </a:p>
          <a:p>
            <a:r>
              <a:rPr lang="en-US" dirty="0"/>
              <a:t>So this is a real gap in the test, not a bug in the application.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test coverage for our checkout.</a:t>
            </a:r>
          </a:p>
          <a:p>
            <a:r>
              <a:rPr lang="en-US" dirty="0"/>
              <a:t>Our file already covers three scenarios. A full order with confirmation. First name is required. And postal code is required.</a:t>
            </a:r>
          </a:p>
          <a:p>
            <a:r>
              <a:rPr lang="en-US" dirty="0"/>
              <a:t>The review suggests three more ideas. Last name is required. The tax amount is correct. And checkout with an empty cart.</a:t>
            </a:r>
          </a:p>
          <a:p>
            <a:r>
              <a:rPr lang="en-US" dirty="0"/>
              <a:t>Look at the Status column. Covered means the test is already in our file. Suggested means it is only an idea.</a:t>
            </a:r>
          </a:p>
          <a:p>
            <a:r>
              <a:rPr lang="en-US" dirty="0"/>
              <a:t>Before you automate a suggested test, confirm it with the requirements or the product owner. For example, what should happen with an empty cart? Only the requirements can answer that.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helpful, but it has limits.</a:t>
            </a:r>
          </a:p>
          <a:p>
            <a:r>
              <a:rPr lang="en-US" dirty="0"/>
              <a:t>First, AI can make wrong assumptions. It may guess rules that your application does not have.</a:t>
            </a:r>
          </a:p>
          <a:p>
            <a:r>
              <a:rPr lang="en-US" dirty="0"/>
              <a:t>Second, the suggested tests may not match your business requirements.</a:t>
            </a:r>
          </a:p>
          <a:p>
            <a:r>
              <a:rPr lang="en-US" dirty="0"/>
              <a:t>Third, generated code must be reviewed. Read every line.</a:t>
            </a:r>
          </a:p>
          <a:p>
            <a:r>
              <a:rPr lang="en-US" dirty="0"/>
              <a:t>Fourth, you must run the tests and check the results. A test is done only when it passes for the right reason.</a:t>
            </a:r>
          </a:p>
          <a:p>
            <a:r>
              <a:rPr lang="en-US" dirty="0"/>
              <a:t>And fifth, protect sensitive information. Only share project data with AI tools that your company allows.</a:t>
            </a:r>
          </a:p>
          <a:p>
            <a:r>
              <a:rPr lang="en-US" dirty="0"/>
              <a:t>So remember: AI helps, but you decide.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review the key points.</a:t>
            </a:r>
          </a:p>
          <a:p>
            <a:r>
              <a:rPr lang="en-US" dirty="0"/>
              <a:t>One: AI can speed up test analysis and help you find gaps in coverage.</a:t>
            </a:r>
          </a:p>
          <a:p>
            <a:r>
              <a:rPr lang="en-US" dirty="0"/>
              <a:t>Two: good prompts give better suggestions. Give Copilot a role, a clear task, and guardrails.</a:t>
            </a:r>
          </a:p>
          <a:p>
            <a:r>
              <a:rPr lang="en-US" dirty="0"/>
              <a:t>Three: QA engineers are still responsible for test quality. You validate, you run, and you verify.</a:t>
            </a:r>
          </a:p>
          <a:p>
            <a:r>
              <a:rPr lang="en-US" dirty="0"/>
              <a:t>Four: use AI as an assistant. It does not replace your testing knowledge.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all for today.</a:t>
            </a:r>
          </a:p>
          <a:p>
            <a:r>
              <a:rPr lang="en-US" dirty="0"/>
              <a:t>Remember: AI is not replacing QA engineers. It is helping us work smarter.</a:t>
            </a:r>
          </a:p>
          <a:p>
            <a:r>
              <a:rPr lang="en-US" dirty="0"/>
              <a:t>If this video was helpful, please like it and subscribe to the channel.</a:t>
            </a:r>
          </a:p>
          <a:p>
            <a:r>
              <a:rPr lang="en-US" dirty="0"/>
              <a:t>And tell me in the comments: how do you use AI in your testing work?</a:t>
            </a:r>
          </a:p>
          <a:p>
            <a:r>
              <a:rPr lang="en-US" dirty="0"/>
              <a:t>Thank you for watching, and see you in the next video.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bg>
      <p:bgPr>
        <a:solidFill>
          <a:srgbClr val="0B1B3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B026F-D9F5-AF03-52D2-EC4B5FE77951}"/>
              </a:ext>
            </a:extLst>
          </p:cNvPr>
          <p:cNvSpPr>
            <a:spLocks noGrp="1"/>
          </p:cNvSpPr>
          <p:nvPr>
            <p:ph type="ctrTitle"/>
          </p:nvPr>
        </p:nvSpPr>
        <p:spPr>
          <a:xfrm>
            <a:off x="914400" y="1371600"/>
            <a:ext cx="9144000" cy="2387600"/>
          </a:xfrm>
        </p:spPr>
        <p:txBody>
          <a:bodyPr anchor="b"/>
          <a:lstStyle>
            <a:lvl1pPr algn="l">
              <a:defRPr sz="4800" b="1">
                <a:solidFill>
                  <a:srgbClr val="FFFFFF"/>
                </a:solidFill>
              </a:defRPr>
            </a:lvl1pPr>
          </a:lstStyle>
          <a:p>
            <a:r>
              <a:rPr lang="en-US"/>
              <a:t>Click to edit Master title style</a:t>
            </a:r>
          </a:p>
        </p:txBody>
      </p:sp>
      <p:sp>
        <p:nvSpPr>
          <p:cNvPr id="3" name="Subtitle 2">
            <a:extLst>
              <a:ext uri="{FF2B5EF4-FFF2-40B4-BE49-F238E27FC236}">
                <a16:creationId xmlns:a16="http://schemas.microsoft.com/office/drawing/2014/main" id="{5EB3C37A-F056-E7B4-129E-0998D70C371B}"/>
              </a:ext>
            </a:extLst>
          </p:cNvPr>
          <p:cNvSpPr>
            <a:spLocks noGrp="1"/>
          </p:cNvSpPr>
          <p:nvPr>
            <p:ph type="subTitle" idx="1"/>
          </p:nvPr>
        </p:nvSpPr>
        <p:spPr>
          <a:xfrm>
            <a:off x="914400" y="3566160"/>
            <a:ext cx="9144000" cy="1655762"/>
          </a:xfrm>
        </p:spPr>
        <p:txBody>
          <a:bodyPr/>
          <a:lstStyle>
            <a:lvl1pPr marL="0" indent="0" algn="l">
              <a:buNone/>
              <a:defRPr sz="2200">
                <a:solidFill>
                  <a:srgbClr val="93C5FD"/>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4F9AB2-C1EB-D504-253C-B1AE46936D73}"/>
              </a:ext>
            </a:extLst>
          </p:cNvPr>
          <p:cNvSpPr>
            <a:spLocks noGrp="1"/>
          </p:cNvSpPr>
          <p:nvPr>
            <p:ph type="dt" sz="half" idx="10"/>
          </p:nvPr>
        </p:nvSpPr>
        <p:spPr/>
        <p:txBody>
          <a:bodyPr/>
          <a:lstStyle/>
          <a:p>
            <a:fld id="{682A6494-D2B0-4522-A183-4C9F91718000}" type="datetimeFigureOut">
              <a:rPr lang="en-US" smtClean="0"/>
              <a:t>10/10/2026</a:t>
            </a:fld>
            <a:endParaRPr lang="en-US"/>
          </a:p>
        </p:txBody>
      </p:sp>
      <p:sp>
        <p:nvSpPr>
          <p:cNvPr id="5" name="Footer Placeholder 4">
            <a:extLst>
              <a:ext uri="{FF2B5EF4-FFF2-40B4-BE49-F238E27FC236}">
                <a16:creationId xmlns:a16="http://schemas.microsoft.com/office/drawing/2014/main" id="{F5A3438B-E333-2DA7-1949-C6443A5BF7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FD78C0-39E3-5B69-CA76-6100679DBF0D}"/>
              </a:ext>
            </a:extLst>
          </p:cNvPr>
          <p:cNvSpPr>
            <a:spLocks noGrp="1"/>
          </p:cNvSpPr>
          <p:nvPr>
            <p:ph type="sldNum" sz="quarter" idx="12"/>
          </p:nvPr>
        </p:nvSpPr>
        <p:spPr/>
        <p:txBody>
          <a:bodyPr/>
          <a:lstStyle/>
          <a:p>
            <a:fld id="{589414F1-AB8C-4AC1-8D54-3BF7E2636C6C}" type="slidenum">
              <a:rPr lang="en-US" smtClean="0"/>
              <a:t>‹#›</a:t>
            </a:fld>
            <a:endParaRPr lang="en-US"/>
          </a:p>
        </p:txBody>
      </p:sp>
    </p:spTree>
    <p:extLst>
      <p:ext uri="{BB962C8B-B14F-4D97-AF65-F5344CB8AC3E}">
        <p14:creationId xmlns:p14="http://schemas.microsoft.com/office/powerpoint/2010/main" val="3096502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3A11E-E594-63EF-D622-6950C345C7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985499-BB1D-D733-978D-AFDF398F3D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A7AB58-B950-A966-09CA-2333749ACDE5}"/>
              </a:ext>
            </a:extLst>
          </p:cNvPr>
          <p:cNvSpPr>
            <a:spLocks noGrp="1"/>
          </p:cNvSpPr>
          <p:nvPr>
            <p:ph type="dt" sz="half" idx="10"/>
          </p:nvPr>
        </p:nvSpPr>
        <p:spPr/>
        <p:txBody>
          <a:bodyPr/>
          <a:lstStyle/>
          <a:p>
            <a:fld id="{682A6494-D2B0-4522-A183-4C9F91718000}" type="datetimeFigureOut">
              <a:rPr lang="en-US" smtClean="0"/>
              <a:t>10/10/2026</a:t>
            </a:fld>
            <a:endParaRPr lang="en-US"/>
          </a:p>
        </p:txBody>
      </p:sp>
      <p:sp>
        <p:nvSpPr>
          <p:cNvPr id="5" name="Footer Placeholder 4">
            <a:extLst>
              <a:ext uri="{FF2B5EF4-FFF2-40B4-BE49-F238E27FC236}">
                <a16:creationId xmlns:a16="http://schemas.microsoft.com/office/drawing/2014/main" id="{0636A62B-CDB5-20A8-14F8-68EA27CA4C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F50407-9ED0-C6C4-8506-861F2343C2AA}"/>
              </a:ext>
            </a:extLst>
          </p:cNvPr>
          <p:cNvSpPr>
            <a:spLocks noGrp="1"/>
          </p:cNvSpPr>
          <p:nvPr>
            <p:ph type="sldNum" sz="quarter" idx="12"/>
          </p:nvPr>
        </p:nvSpPr>
        <p:spPr/>
        <p:txBody>
          <a:bodyPr/>
          <a:lstStyle/>
          <a:p>
            <a:fld id="{589414F1-AB8C-4AC1-8D54-3BF7E2636C6C}" type="slidenum">
              <a:rPr lang="en-US" smtClean="0"/>
              <a:t>‹#›</a:t>
            </a:fld>
            <a:endParaRPr lang="en-US"/>
          </a:p>
        </p:txBody>
      </p:sp>
    </p:spTree>
    <p:extLst>
      <p:ext uri="{BB962C8B-B14F-4D97-AF65-F5344CB8AC3E}">
        <p14:creationId xmlns:p14="http://schemas.microsoft.com/office/powerpoint/2010/main" val="182282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0A650-F44E-8941-2873-B1183E294E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4D3285B-670D-2FA2-0CEC-9CDA8625B5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2349CD-BFF3-9ED6-6D9F-B968CF1C81EC}"/>
              </a:ext>
            </a:extLst>
          </p:cNvPr>
          <p:cNvSpPr>
            <a:spLocks noGrp="1"/>
          </p:cNvSpPr>
          <p:nvPr>
            <p:ph type="dt" sz="half" idx="10"/>
          </p:nvPr>
        </p:nvSpPr>
        <p:spPr/>
        <p:txBody>
          <a:bodyPr/>
          <a:lstStyle/>
          <a:p>
            <a:fld id="{682A6494-D2B0-4522-A183-4C9F91718000}" type="datetimeFigureOut">
              <a:rPr lang="en-US" smtClean="0"/>
              <a:t>10/10/2026</a:t>
            </a:fld>
            <a:endParaRPr lang="en-US"/>
          </a:p>
        </p:txBody>
      </p:sp>
      <p:sp>
        <p:nvSpPr>
          <p:cNvPr id="5" name="Footer Placeholder 4">
            <a:extLst>
              <a:ext uri="{FF2B5EF4-FFF2-40B4-BE49-F238E27FC236}">
                <a16:creationId xmlns:a16="http://schemas.microsoft.com/office/drawing/2014/main" id="{7188FF46-B863-7C41-52DC-7B6DB032B5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0EE6D9-343B-87AD-0F5E-23FE5300F534}"/>
              </a:ext>
            </a:extLst>
          </p:cNvPr>
          <p:cNvSpPr>
            <a:spLocks noGrp="1"/>
          </p:cNvSpPr>
          <p:nvPr>
            <p:ph type="sldNum" sz="quarter" idx="12"/>
          </p:nvPr>
        </p:nvSpPr>
        <p:spPr/>
        <p:txBody>
          <a:bodyPr/>
          <a:lstStyle/>
          <a:p>
            <a:fld id="{589414F1-AB8C-4AC1-8D54-3BF7E2636C6C}" type="slidenum">
              <a:rPr lang="en-US" smtClean="0"/>
              <a:t>‹#›</a:t>
            </a:fld>
            <a:endParaRPr lang="en-US"/>
          </a:p>
        </p:txBody>
      </p:sp>
    </p:spTree>
    <p:extLst>
      <p:ext uri="{BB962C8B-B14F-4D97-AF65-F5344CB8AC3E}">
        <p14:creationId xmlns:p14="http://schemas.microsoft.com/office/powerpoint/2010/main" val="2484083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39133-65F0-859F-AA82-949A443EA6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FBF80E-4C95-6245-603D-066DD0BFA2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549261C-0DDA-C08A-DA56-BB13576964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A50DE78-B2FD-98D1-3C6B-92058CD963C2}"/>
              </a:ext>
            </a:extLst>
          </p:cNvPr>
          <p:cNvSpPr>
            <a:spLocks noGrp="1"/>
          </p:cNvSpPr>
          <p:nvPr>
            <p:ph type="dt" sz="half" idx="10"/>
          </p:nvPr>
        </p:nvSpPr>
        <p:spPr/>
        <p:txBody>
          <a:bodyPr/>
          <a:lstStyle/>
          <a:p>
            <a:fld id="{682A6494-D2B0-4522-A183-4C9F91718000}" type="datetimeFigureOut">
              <a:rPr lang="en-US" smtClean="0"/>
              <a:t>10/10/2026</a:t>
            </a:fld>
            <a:endParaRPr lang="en-US"/>
          </a:p>
        </p:txBody>
      </p:sp>
      <p:sp>
        <p:nvSpPr>
          <p:cNvPr id="6" name="Footer Placeholder 5">
            <a:extLst>
              <a:ext uri="{FF2B5EF4-FFF2-40B4-BE49-F238E27FC236}">
                <a16:creationId xmlns:a16="http://schemas.microsoft.com/office/drawing/2014/main" id="{D0F3FAC8-1BE9-3EF4-60FE-340C1F740C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E031F5-C68A-FE70-547B-6C91170B0BD6}"/>
              </a:ext>
            </a:extLst>
          </p:cNvPr>
          <p:cNvSpPr>
            <a:spLocks noGrp="1"/>
          </p:cNvSpPr>
          <p:nvPr>
            <p:ph type="sldNum" sz="quarter" idx="12"/>
          </p:nvPr>
        </p:nvSpPr>
        <p:spPr/>
        <p:txBody>
          <a:bodyPr/>
          <a:lstStyle/>
          <a:p>
            <a:fld id="{589414F1-AB8C-4AC1-8D54-3BF7E2636C6C}" type="slidenum">
              <a:rPr lang="en-US" smtClean="0"/>
              <a:t>‹#›</a:t>
            </a:fld>
            <a:endParaRPr lang="en-US"/>
          </a:p>
        </p:txBody>
      </p:sp>
    </p:spTree>
    <p:extLst>
      <p:ext uri="{BB962C8B-B14F-4D97-AF65-F5344CB8AC3E}">
        <p14:creationId xmlns:p14="http://schemas.microsoft.com/office/powerpoint/2010/main" val="2244010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95AC9-E1C4-8EF1-7149-4241AEE29D1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1865B3-5800-BE50-21D4-F7E0C3F0AA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83992E-C0FD-96BE-4C5E-32480AB8DD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B40B75-D5DE-E8DF-A5A3-7E2A68E162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C88286-04DF-86DA-2576-5CC0B5CE01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4CD2E9-6F39-27AD-5C7F-18D43B5FAEC0}"/>
              </a:ext>
            </a:extLst>
          </p:cNvPr>
          <p:cNvSpPr>
            <a:spLocks noGrp="1"/>
          </p:cNvSpPr>
          <p:nvPr>
            <p:ph type="dt" sz="half" idx="10"/>
          </p:nvPr>
        </p:nvSpPr>
        <p:spPr/>
        <p:txBody>
          <a:bodyPr/>
          <a:lstStyle/>
          <a:p>
            <a:fld id="{682A6494-D2B0-4522-A183-4C9F91718000}" type="datetimeFigureOut">
              <a:rPr lang="en-US" smtClean="0"/>
              <a:t>10/10/2026</a:t>
            </a:fld>
            <a:endParaRPr lang="en-US"/>
          </a:p>
        </p:txBody>
      </p:sp>
      <p:sp>
        <p:nvSpPr>
          <p:cNvPr id="8" name="Footer Placeholder 7">
            <a:extLst>
              <a:ext uri="{FF2B5EF4-FFF2-40B4-BE49-F238E27FC236}">
                <a16:creationId xmlns:a16="http://schemas.microsoft.com/office/drawing/2014/main" id="{35B4FE87-968F-9856-B75E-7502F3E80C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458A761-D5F0-65E2-DD9B-35B5D42AEF35}"/>
              </a:ext>
            </a:extLst>
          </p:cNvPr>
          <p:cNvSpPr>
            <a:spLocks noGrp="1"/>
          </p:cNvSpPr>
          <p:nvPr>
            <p:ph type="sldNum" sz="quarter" idx="12"/>
          </p:nvPr>
        </p:nvSpPr>
        <p:spPr/>
        <p:txBody>
          <a:bodyPr/>
          <a:lstStyle/>
          <a:p>
            <a:fld id="{589414F1-AB8C-4AC1-8D54-3BF7E2636C6C}" type="slidenum">
              <a:rPr lang="en-US" smtClean="0"/>
              <a:t>‹#›</a:t>
            </a:fld>
            <a:endParaRPr lang="en-US"/>
          </a:p>
        </p:txBody>
      </p:sp>
    </p:spTree>
    <p:extLst>
      <p:ext uri="{BB962C8B-B14F-4D97-AF65-F5344CB8AC3E}">
        <p14:creationId xmlns:p14="http://schemas.microsoft.com/office/powerpoint/2010/main" val="3806613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7E90C-1CB8-8F2E-A7CB-05DA31CCB8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5168AF-8752-6152-9F0B-EF3C765F3895}"/>
              </a:ext>
            </a:extLst>
          </p:cNvPr>
          <p:cNvSpPr>
            <a:spLocks noGrp="1"/>
          </p:cNvSpPr>
          <p:nvPr>
            <p:ph type="dt" sz="half" idx="10"/>
          </p:nvPr>
        </p:nvSpPr>
        <p:spPr/>
        <p:txBody>
          <a:bodyPr/>
          <a:lstStyle/>
          <a:p>
            <a:fld id="{682A6494-D2B0-4522-A183-4C9F91718000}" type="datetimeFigureOut">
              <a:rPr lang="en-US" smtClean="0"/>
              <a:t>10/10/2026</a:t>
            </a:fld>
            <a:endParaRPr lang="en-US"/>
          </a:p>
        </p:txBody>
      </p:sp>
      <p:sp>
        <p:nvSpPr>
          <p:cNvPr id="4" name="Footer Placeholder 3">
            <a:extLst>
              <a:ext uri="{FF2B5EF4-FFF2-40B4-BE49-F238E27FC236}">
                <a16:creationId xmlns:a16="http://schemas.microsoft.com/office/drawing/2014/main" id="{64BA063A-6256-E571-EA76-C824767540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48A78F2-5121-E0B3-DCAB-FF7934F8A8CD}"/>
              </a:ext>
            </a:extLst>
          </p:cNvPr>
          <p:cNvSpPr>
            <a:spLocks noGrp="1"/>
          </p:cNvSpPr>
          <p:nvPr>
            <p:ph type="sldNum" sz="quarter" idx="12"/>
          </p:nvPr>
        </p:nvSpPr>
        <p:spPr/>
        <p:txBody>
          <a:bodyPr/>
          <a:lstStyle/>
          <a:p>
            <a:fld id="{589414F1-AB8C-4AC1-8D54-3BF7E2636C6C}" type="slidenum">
              <a:rPr lang="en-US" smtClean="0"/>
              <a:t>‹#›</a:t>
            </a:fld>
            <a:endParaRPr lang="en-US"/>
          </a:p>
        </p:txBody>
      </p:sp>
    </p:spTree>
    <p:extLst>
      <p:ext uri="{BB962C8B-B14F-4D97-AF65-F5344CB8AC3E}">
        <p14:creationId xmlns:p14="http://schemas.microsoft.com/office/powerpoint/2010/main" val="1791129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C8CC45-FAB2-475A-0A06-8C7505FC7F7F}"/>
              </a:ext>
            </a:extLst>
          </p:cNvPr>
          <p:cNvSpPr>
            <a:spLocks noGrp="1"/>
          </p:cNvSpPr>
          <p:nvPr>
            <p:ph type="dt" sz="half" idx="10"/>
          </p:nvPr>
        </p:nvSpPr>
        <p:spPr/>
        <p:txBody>
          <a:bodyPr/>
          <a:lstStyle/>
          <a:p>
            <a:fld id="{682A6494-D2B0-4522-A183-4C9F91718000}" type="datetimeFigureOut">
              <a:rPr lang="en-US" smtClean="0"/>
              <a:t>10/10/2026</a:t>
            </a:fld>
            <a:endParaRPr lang="en-US"/>
          </a:p>
        </p:txBody>
      </p:sp>
      <p:sp>
        <p:nvSpPr>
          <p:cNvPr id="3" name="Footer Placeholder 2">
            <a:extLst>
              <a:ext uri="{FF2B5EF4-FFF2-40B4-BE49-F238E27FC236}">
                <a16:creationId xmlns:a16="http://schemas.microsoft.com/office/drawing/2014/main" id="{3B9830AE-CE65-34C0-BFC9-AA1F4B0852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B40F0BA-36BC-7907-21AB-879CDD3A08F8}"/>
              </a:ext>
            </a:extLst>
          </p:cNvPr>
          <p:cNvSpPr>
            <a:spLocks noGrp="1"/>
          </p:cNvSpPr>
          <p:nvPr>
            <p:ph type="sldNum" sz="quarter" idx="12"/>
          </p:nvPr>
        </p:nvSpPr>
        <p:spPr/>
        <p:txBody>
          <a:bodyPr/>
          <a:lstStyle/>
          <a:p>
            <a:fld id="{589414F1-AB8C-4AC1-8D54-3BF7E2636C6C}" type="slidenum">
              <a:rPr lang="en-US" smtClean="0"/>
              <a:t>‹#›</a:t>
            </a:fld>
            <a:endParaRPr lang="en-US"/>
          </a:p>
        </p:txBody>
      </p:sp>
    </p:spTree>
    <p:extLst>
      <p:ext uri="{BB962C8B-B14F-4D97-AF65-F5344CB8AC3E}">
        <p14:creationId xmlns:p14="http://schemas.microsoft.com/office/powerpoint/2010/main" val="96086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0F71A-A4E2-D63F-9540-4D68B000F0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A8AC484-E8BF-B099-C50E-57B0643B48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F0AD9C5-D6B7-88D2-37ED-B6B49E93D6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1C7D0-C356-7754-0087-CF8DB549F0E2}"/>
              </a:ext>
            </a:extLst>
          </p:cNvPr>
          <p:cNvSpPr>
            <a:spLocks noGrp="1"/>
          </p:cNvSpPr>
          <p:nvPr>
            <p:ph type="dt" sz="half" idx="10"/>
          </p:nvPr>
        </p:nvSpPr>
        <p:spPr/>
        <p:txBody>
          <a:bodyPr/>
          <a:lstStyle/>
          <a:p>
            <a:fld id="{682A6494-D2B0-4522-A183-4C9F91718000}" type="datetimeFigureOut">
              <a:rPr lang="en-US" smtClean="0"/>
              <a:t>10/10/2026</a:t>
            </a:fld>
            <a:endParaRPr lang="en-US"/>
          </a:p>
        </p:txBody>
      </p:sp>
      <p:sp>
        <p:nvSpPr>
          <p:cNvPr id="6" name="Footer Placeholder 5">
            <a:extLst>
              <a:ext uri="{FF2B5EF4-FFF2-40B4-BE49-F238E27FC236}">
                <a16:creationId xmlns:a16="http://schemas.microsoft.com/office/drawing/2014/main" id="{CC51E8CA-6B27-F026-6746-594BA54161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4EBEBA-103D-CC9F-E456-2C815D60932A}"/>
              </a:ext>
            </a:extLst>
          </p:cNvPr>
          <p:cNvSpPr>
            <a:spLocks noGrp="1"/>
          </p:cNvSpPr>
          <p:nvPr>
            <p:ph type="sldNum" sz="quarter" idx="12"/>
          </p:nvPr>
        </p:nvSpPr>
        <p:spPr/>
        <p:txBody>
          <a:bodyPr/>
          <a:lstStyle/>
          <a:p>
            <a:fld id="{589414F1-AB8C-4AC1-8D54-3BF7E2636C6C}" type="slidenum">
              <a:rPr lang="en-US" smtClean="0"/>
              <a:t>‹#›</a:t>
            </a:fld>
            <a:endParaRPr lang="en-US"/>
          </a:p>
        </p:txBody>
      </p:sp>
    </p:spTree>
    <p:extLst>
      <p:ext uri="{BB962C8B-B14F-4D97-AF65-F5344CB8AC3E}">
        <p14:creationId xmlns:p14="http://schemas.microsoft.com/office/powerpoint/2010/main" val="1037055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9FA72-B9CF-9C2F-3534-3F76C2FD19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DFC89-B47F-285A-EF74-B9FB34184427}"/>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1DB08FB-101F-190B-E393-6C26D0BF39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580A87-FD67-4681-DA3D-78B04D650BCE}"/>
              </a:ext>
            </a:extLst>
          </p:cNvPr>
          <p:cNvSpPr>
            <a:spLocks noGrp="1"/>
          </p:cNvSpPr>
          <p:nvPr>
            <p:ph type="dt" sz="half" idx="10"/>
          </p:nvPr>
        </p:nvSpPr>
        <p:spPr/>
        <p:txBody>
          <a:bodyPr/>
          <a:lstStyle/>
          <a:p>
            <a:fld id="{682A6494-D2B0-4522-A183-4C9F91718000}" type="datetimeFigureOut">
              <a:rPr lang="en-US" smtClean="0"/>
              <a:t>10/10/2026</a:t>
            </a:fld>
            <a:endParaRPr lang="en-US"/>
          </a:p>
        </p:txBody>
      </p:sp>
      <p:sp>
        <p:nvSpPr>
          <p:cNvPr id="6" name="Footer Placeholder 5">
            <a:extLst>
              <a:ext uri="{FF2B5EF4-FFF2-40B4-BE49-F238E27FC236}">
                <a16:creationId xmlns:a16="http://schemas.microsoft.com/office/drawing/2014/main" id="{248ADAAB-25A0-E994-83DC-3C4315CD1D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092BD9-26FF-2CED-BC99-9DDF713E6329}"/>
              </a:ext>
            </a:extLst>
          </p:cNvPr>
          <p:cNvSpPr>
            <a:spLocks noGrp="1"/>
          </p:cNvSpPr>
          <p:nvPr>
            <p:ph type="sldNum" sz="quarter" idx="12"/>
          </p:nvPr>
        </p:nvSpPr>
        <p:spPr/>
        <p:txBody>
          <a:bodyPr/>
          <a:lstStyle/>
          <a:p>
            <a:fld id="{589414F1-AB8C-4AC1-8D54-3BF7E2636C6C}" type="slidenum">
              <a:rPr lang="en-US" smtClean="0"/>
              <a:t>‹#›</a:t>
            </a:fld>
            <a:endParaRPr lang="en-US"/>
          </a:p>
        </p:txBody>
      </p:sp>
    </p:spTree>
    <p:extLst>
      <p:ext uri="{BB962C8B-B14F-4D97-AF65-F5344CB8AC3E}">
        <p14:creationId xmlns:p14="http://schemas.microsoft.com/office/powerpoint/2010/main" val="1003987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F7E12-67BD-5CA9-BB7F-10DD517C836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82131C-B6B8-6D90-445F-EBF3F93057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983FBE-F8CB-4F27-2A94-FFEAE3340167}"/>
              </a:ext>
            </a:extLst>
          </p:cNvPr>
          <p:cNvSpPr>
            <a:spLocks noGrp="1"/>
          </p:cNvSpPr>
          <p:nvPr>
            <p:ph type="dt" sz="half" idx="10"/>
          </p:nvPr>
        </p:nvSpPr>
        <p:spPr/>
        <p:txBody>
          <a:bodyPr/>
          <a:lstStyle/>
          <a:p>
            <a:fld id="{682A6494-D2B0-4522-A183-4C9F91718000}" type="datetimeFigureOut">
              <a:rPr lang="en-US" smtClean="0"/>
              <a:t>10/10/2026</a:t>
            </a:fld>
            <a:endParaRPr lang="en-US"/>
          </a:p>
        </p:txBody>
      </p:sp>
      <p:sp>
        <p:nvSpPr>
          <p:cNvPr id="5" name="Footer Placeholder 4">
            <a:extLst>
              <a:ext uri="{FF2B5EF4-FFF2-40B4-BE49-F238E27FC236}">
                <a16:creationId xmlns:a16="http://schemas.microsoft.com/office/drawing/2014/main" id="{56DD9420-AAF7-F423-667D-96DCA0CF4A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A865D0-4B26-E8ED-40BC-F118FAEB8AFD}"/>
              </a:ext>
            </a:extLst>
          </p:cNvPr>
          <p:cNvSpPr>
            <a:spLocks noGrp="1"/>
          </p:cNvSpPr>
          <p:nvPr>
            <p:ph type="sldNum" sz="quarter" idx="12"/>
          </p:nvPr>
        </p:nvSpPr>
        <p:spPr/>
        <p:txBody>
          <a:bodyPr/>
          <a:lstStyle/>
          <a:p>
            <a:fld id="{589414F1-AB8C-4AC1-8D54-3BF7E2636C6C}" type="slidenum">
              <a:rPr lang="en-US" smtClean="0"/>
              <a:t>‹#›</a:t>
            </a:fld>
            <a:endParaRPr lang="en-US"/>
          </a:p>
        </p:txBody>
      </p:sp>
    </p:spTree>
    <p:extLst>
      <p:ext uri="{BB962C8B-B14F-4D97-AF65-F5344CB8AC3E}">
        <p14:creationId xmlns:p14="http://schemas.microsoft.com/office/powerpoint/2010/main" val="2610776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1226D0-0613-8D6B-732D-6C9B0850E5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4C2AF3-6B86-178F-74D6-0F0CBFE878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254C11-AE76-5F42-EF6A-D81AE7991176}"/>
              </a:ext>
            </a:extLst>
          </p:cNvPr>
          <p:cNvSpPr>
            <a:spLocks noGrp="1"/>
          </p:cNvSpPr>
          <p:nvPr>
            <p:ph type="dt" sz="half" idx="10"/>
          </p:nvPr>
        </p:nvSpPr>
        <p:spPr/>
        <p:txBody>
          <a:bodyPr/>
          <a:lstStyle/>
          <a:p>
            <a:fld id="{682A6494-D2B0-4522-A183-4C9F91718000}" type="datetimeFigureOut">
              <a:rPr lang="en-US" smtClean="0"/>
              <a:t>10/10/2026</a:t>
            </a:fld>
            <a:endParaRPr lang="en-US"/>
          </a:p>
        </p:txBody>
      </p:sp>
      <p:sp>
        <p:nvSpPr>
          <p:cNvPr id="5" name="Footer Placeholder 4">
            <a:extLst>
              <a:ext uri="{FF2B5EF4-FFF2-40B4-BE49-F238E27FC236}">
                <a16:creationId xmlns:a16="http://schemas.microsoft.com/office/drawing/2014/main" id="{0C3DE97B-6FBD-067B-C024-04B5378579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D6297A-AEF9-A355-84C9-CEA6A007FEC9}"/>
              </a:ext>
            </a:extLst>
          </p:cNvPr>
          <p:cNvSpPr>
            <a:spLocks noGrp="1"/>
          </p:cNvSpPr>
          <p:nvPr>
            <p:ph type="sldNum" sz="quarter" idx="12"/>
          </p:nvPr>
        </p:nvSpPr>
        <p:spPr/>
        <p:txBody>
          <a:bodyPr/>
          <a:lstStyle/>
          <a:p>
            <a:fld id="{589414F1-AB8C-4AC1-8D54-3BF7E2636C6C}" type="slidenum">
              <a:rPr lang="en-US" smtClean="0"/>
              <a:t>‹#›</a:t>
            </a:fld>
            <a:endParaRPr lang="en-US"/>
          </a:p>
        </p:txBody>
      </p:sp>
    </p:spTree>
    <p:extLst>
      <p:ext uri="{BB962C8B-B14F-4D97-AF65-F5344CB8AC3E}">
        <p14:creationId xmlns:p14="http://schemas.microsoft.com/office/powerpoint/2010/main" val="1288844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8AC30B-5BA7-EE1F-8638-B6B4B216D562}"/>
              </a:ext>
            </a:extLst>
          </p:cNvPr>
          <p:cNvSpPr>
            <a:spLocks noGrp="1"/>
          </p:cNvSpPr>
          <p:nvPr>
            <p:ph type="title"/>
          </p:nvPr>
        </p:nvSpPr>
        <p:spPr>
          <a:xfrm>
            <a:off x="609600" y="342900"/>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893E6AE-DDFB-6ED8-83CE-7655855F3203}"/>
              </a:ext>
            </a:extLst>
          </p:cNvPr>
          <p:cNvSpPr>
            <a:spLocks noGrp="1"/>
          </p:cNvSpPr>
          <p:nvPr>
            <p:ph type="body" idx="1"/>
          </p:nvPr>
        </p:nvSpPr>
        <p:spPr>
          <a:xfrm>
            <a:off x="609600" y="1371600"/>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C1A5D3-5DBC-CFBA-3BF6-819620EC28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2A6494-D2B0-4522-A183-4C9F91718000}" type="datetimeFigureOut">
              <a:rPr lang="en-US" smtClean="0"/>
              <a:t>10/10/2026</a:t>
            </a:fld>
            <a:endParaRPr lang="en-US"/>
          </a:p>
        </p:txBody>
      </p:sp>
      <p:sp>
        <p:nvSpPr>
          <p:cNvPr id="5" name="Footer Placeholder 4">
            <a:extLst>
              <a:ext uri="{FF2B5EF4-FFF2-40B4-BE49-F238E27FC236}">
                <a16:creationId xmlns:a16="http://schemas.microsoft.com/office/drawing/2014/main" id="{F18AB8AA-568A-5F8B-9806-13F644E978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E567D3F-C24C-5F9A-147F-C68F89C349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89414F1-AB8C-4AC1-8D54-3BF7E2636C6C}" type="slidenum">
              <a:rPr lang="en-US" smtClean="0"/>
              <a:t>‹#›</a:t>
            </a:fld>
            <a:endParaRPr lang="en-US"/>
          </a:p>
        </p:txBody>
      </p:sp>
      <p:sp>
        <p:nvSpPr>
          <p:cNvPr id="8" name="TextBox 7">
            <a:extLst>
              <a:ext uri="{FF2B5EF4-FFF2-40B4-BE49-F238E27FC236}">
                <a16:creationId xmlns:a16="http://schemas.microsoft.com/office/drawing/2014/main" id="{F920DB68-1D21-CD56-183E-3683349E8AAA}"/>
              </a:ext>
            </a:extLst>
          </p:cNvPr>
          <p:cNvSpPr txBox="1"/>
          <p:nvPr userDrawn="1">
            <p:extLst>
              <p:ext uri="{1162E1C5-73C7-4A58-AE30-91384D911F3F}">
                <p184:classification xmlns:p184="http://schemas.microsoft.com/office/powerpoint/2018/4/main" val="hdr"/>
              </p:ext>
            </p:extLst>
          </p:nvPr>
        </p:nvSpPr>
        <p:spPr>
          <a:xfrm>
            <a:off x="5638800" y="63500"/>
            <a:ext cx="946150" cy="182880"/>
          </a:xfrm>
          <a:prstGeom prst="rect">
            <a:avLst/>
          </a:prstGeom>
        </p:spPr>
        <p:txBody>
          <a:bodyPr horzOverflow="overflow" lIns="0" tIns="0" rIns="0" bIns="0">
            <a:spAutoFit/>
          </a:bodyPr>
          <a:lstStyle/>
          <a:p>
            <a:pPr algn="l"/>
            <a:r>
              <a:rPr lang="en-US" sz="1200">
                <a:solidFill>
                  <a:srgbClr val="008000">
                    <a:alpha val="50000"/>
                  </a:srgbClr>
                </a:solidFill>
                <a:latin typeface="Aptos" panose="020B0004020202020204" pitchFamily="34" charset="0"/>
              </a:rPr>
              <a:t>public access</a:t>
            </a:r>
          </a:p>
        </p:txBody>
      </p:sp>
      <p:sp>
        <p:nvSpPr>
          <p:cNvPr id="90" name="Accent Bar"/>
          <p:cNvSpPr/>
          <p:nvPr userDrawn="1"/>
        </p:nvSpPr>
        <p:spPr>
          <a:xfrm>
            <a:off x="701040" y="228600"/>
            <a:ext cx="548640" cy="54864"/>
          </a:xfrm>
          <a:prstGeom prst="rect">
            <a:avLst/>
          </a:prstGeom>
          <a:solidFill>
            <a:schemeClr val="accent1"/>
          </a:solidFill>
          <a:ln>
            <a:noFill/>
          </a:ln>
        </p:spPr>
        <p:txBody>
          <a:bodyPr/>
          <a:lstStyle/>
          <a:p>
            <a:endParaRPr lang="en-US"/>
          </a:p>
        </p:txBody>
      </p:sp>
    </p:spTree>
    <p:extLst>
      <p:ext uri="{BB962C8B-B14F-4D97-AF65-F5344CB8AC3E}">
        <p14:creationId xmlns:p14="http://schemas.microsoft.com/office/powerpoint/2010/main" val="25903354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10.svg"/><Relationship Id="rId5" Type="http://schemas.openxmlformats.org/officeDocument/2006/relationships/image" Target="../media/image5.svg"/><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879F3-607D-9816-97BB-0F06952365DA}"/>
              </a:ext>
            </a:extLst>
          </p:cNvPr>
          <p:cNvSpPr>
            <a:spLocks noGrp="1"/>
          </p:cNvSpPr>
          <p:nvPr>
            <p:ph type="ctrTitle"/>
          </p:nvPr>
        </p:nvSpPr>
        <p:spPr>
          <a:xfrm>
            <a:off x="914400" y="1397000"/>
            <a:ext cx="10363200" cy="2286000"/>
          </a:xfrm>
        </p:spPr>
        <p:txBody>
          <a:bodyPr/>
          <a:lstStyle/>
          <a:p>
            <a:pPr algn="l">
              <a:lnSpc>
                <a:spcPct val="95000"/>
              </a:lnSpc>
              <a:spcBef>
                <a:spcPts val="0"/>
              </a:spcBef>
              <a:buNone/>
            </a:pPr>
            <a:r>
              <a:rPr lang="en-US" sz="4000" b="1" dirty="0">
                <a:solidFill>
                  <a:srgbClr val="FFFFFF"/>
                </a:solidFill>
              </a:rPr>
              <a:t>Using GitHub Copilot with Playwright</a:t>
            </a:r>
          </a:p>
          <a:p>
            <a:pPr algn="l">
              <a:lnSpc>
                <a:spcPct val="95000"/>
              </a:lnSpc>
              <a:spcBef>
                <a:spcPts val="600"/>
              </a:spcBef>
              <a:buNone/>
            </a:pPr>
            <a:r>
              <a:rPr lang="en-US" sz="3200" b="1" dirty="0">
                <a:solidFill>
                  <a:srgbClr val="60A5FA"/>
                </a:solidFill>
              </a:rPr>
              <a:t>AI-Assisted Test Automation</a:t>
            </a:r>
          </a:p>
        </p:txBody>
      </p:sp>
      <p:sp>
        <p:nvSpPr>
          <p:cNvPr id="3" name="Subtitle 2">
            <a:extLst>
              <a:ext uri="{FF2B5EF4-FFF2-40B4-BE49-F238E27FC236}">
                <a16:creationId xmlns:a16="http://schemas.microsoft.com/office/drawing/2014/main" id="{D9BA87F5-A08A-2B6A-C315-F50A0376DDFF}"/>
              </a:ext>
            </a:extLst>
          </p:cNvPr>
          <p:cNvSpPr>
            <a:spLocks noGrp="1"/>
          </p:cNvSpPr>
          <p:nvPr>
            <p:ph type="subTitle" idx="1"/>
          </p:nvPr>
        </p:nvSpPr>
        <p:spPr>
          <a:xfrm>
            <a:off x="914400" y="3810000"/>
            <a:ext cx="10363200" cy="1655762"/>
          </a:xfrm>
        </p:spPr>
        <p:txBody>
          <a:bodyPr/>
          <a:lstStyle/>
          <a:p>
            <a:pPr algn="l">
              <a:spcBef>
                <a:spcPts val="0"/>
              </a:spcBef>
              <a:buNone/>
            </a:pPr>
            <a:r>
              <a:rPr lang="en-US" sz="2200" b="0" dirty="0">
                <a:solidFill>
                  <a:srgbClr val="CBD5E1"/>
                </a:solidFill>
              </a:rPr>
              <a:t>How AI can help QA Engineers write better tests</a:t>
            </a:r>
          </a:p>
        </p:txBody>
      </p:sp>
      <p:sp>
        <p:nvSpPr>
          <p:cNvPr id="10" name="Shape 10"/>
          <p:cNvSpPr txBox="1"/>
          <p:nvPr/>
        </p:nvSpPr>
        <p:spPr>
          <a:xfrm>
            <a:off x="914400" y="1041400"/>
            <a:ext cx="5334000" cy="330200"/>
          </a:xfrm>
          <a:prstGeom prst="rect">
            <a:avLst/>
          </a:prstGeom>
          <a:noFill/>
          <a:ln>
            <a:noFill/>
          </a:ln>
        </p:spPr>
        <p:txBody>
          <a:bodyPr wrap="square" lIns="0" tIns="76200" rIns="0" bIns="76200" rtlCol="0" anchor="t">
            <a:noAutofit/>
          </a:bodyPr>
          <a:lstStyle/>
          <a:p>
            <a:pPr algn="l">
              <a:spcBef>
                <a:spcPts val="0"/>
              </a:spcBef>
              <a:buNone/>
            </a:pPr>
            <a:r>
              <a:rPr lang="en-US" sz="1400" b="1" dirty="0">
                <a:solidFill>
                  <a:srgbClr val="60A5FA"/>
                </a:solidFill>
              </a:rPr>
              <a:t>YOUTUBE TUTORIAL  ·  QA AUTOMATION</a:t>
            </a:r>
          </a:p>
        </p:txBody>
      </p:sp>
      <p:sp>
        <p:nvSpPr>
          <p:cNvPr id="11" name="Shape 11"/>
          <p:cNvSpPr/>
          <p:nvPr/>
        </p:nvSpPr>
        <p:spPr>
          <a:xfrm>
            <a:off x="914400" y="914400"/>
            <a:ext cx="609600" cy="50800"/>
          </a:xfrm>
          <a:prstGeom prst="rect">
            <a:avLst/>
          </a:prstGeom>
          <a:solidFill>
            <a:srgbClr val="2563EB"/>
          </a:solidFill>
          <a:ln>
            <a:noFill/>
          </a:ln>
        </p:spPr>
        <p:txBody>
          <a:bodyPr wrap="square" lIns="0" tIns="0" rIns="0" bIns="0" rtlCol="0" anchor="t">
            <a:noAutofit/>
          </a:bodyPr>
          <a:lstStyle/>
          <a:p>
            <a:endParaRPr lang="en-US" dirty="0"/>
          </a:p>
        </p:txBody>
      </p:sp>
      <p:sp>
        <p:nvSpPr>
          <p:cNvPr id="20" name="Shape 20"/>
          <p:cNvSpPr/>
          <p:nvPr/>
        </p:nvSpPr>
        <p:spPr>
          <a:xfrm>
            <a:off x="914400" y="5588000"/>
            <a:ext cx="1397000" cy="431800"/>
          </a:xfrm>
          <a:prstGeom prst="roundRect">
            <a:avLst>
              <a:gd name="adj" fmla="val 50000"/>
            </a:avLst>
          </a:prstGeom>
          <a:solidFill>
            <a:srgbClr val="13294B"/>
          </a:solidFill>
          <a:ln w="12700">
            <a:solidFill>
              <a:srgbClr val="2563EB"/>
            </a:solidFill>
          </a:ln>
        </p:spPr>
        <p:txBody>
          <a:bodyPr wrap="square" lIns="152400" tIns="0" rIns="152400" bIns="0" rtlCol="0" anchor="ctr">
            <a:noAutofit/>
          </a:bodyPr>
          <a:lstStyle/>
          <a:p>
            <a:pPr algn="ctr">
              <a:spcBef>
                <a:spcPts val="0"/>
              </a:spcBef>
              <a:buNone/>
            </a:pPr>
            <a:r>
              <a:rPr lang="en-US" sz="1400" b="0" dirty="0">
                <a:solidFill>
                  <a:srgbClr val="E2E8F0"/>
                </a:solidFill>
              </a:rPr>
              <a:t>VS Code</a:t>
            </a:r>
          </a:p>
        </p:txBody>
      </p:sp>
      <p:sp>
        <p:nvSpPr>
          <p:cNvPr id="21" name="Shape 21"/>
          <p:cNvSpPr/>
          <p:nvPr/>
        </p:nvSpPr>
        <p:spPr>
          <a:xfrm>
            <a:off x="2463800" y="5588000"/>
            <a:ext cx="2413000" cy="431800"/>
          </a:xfrm>
          <a:prstGeom prst="roundRect">
            <a:avLst>
              <a:gd name="adj" fmla="val 50000"/>
            </a:avLst>
          </a:prstGeom>
          <a:solidFill>
            <a:srgbClr val="13294B"/>
          </a:solidFill>
          <a:ln w="12700">
            <a:solidFill>
              <a:srgbClr val="2563EB"/>
            </a:solidFill>
          </a:ln>
        </p:spPr>
        <p:txBody>
          <a:bodyPr wrap="square" lIns="152400" tIns="0" rIns="152400" bIns="0" rtlCol="0" anchor="ctr">
            <a:noAutofit/>
          </a:bodyPr>
          <a:lstStyle/>
          <a:p>
            <a:pPr algn="ctr">
              <a:spcBef>
                <a:spcPts val="0"/>
              </a:spcBef>
              <a:buNone/>
            </a:pPr>
            <a:r>
              <a:rPr lang="en-US" sz="1400" b="0" dirty="0">
                <a:solidFill>
                  <a:srgbClr val="E2E8F0"/>
                </a:solidFill>
              </a:rPr>
              <a:t>GitHub Copilot Chat</a:t>
            </a:r>
          </a:p>
        </p:txBody>
      </p:sp>
      <p:sp>
        <p:nvSpPr>
          <p:cNvPr id="22" name="Shape 22"/>
          <p:cNvSpPr/>
          <p:nvPr/>
        </p:nvSpPr>
        <p:spPr>
          <a:xfrm>
            <a:off x="5029200" y="5588000"/>
            <a:ext cx="2794000" cy="431800"/>
          </a:xfrm>
          <a:prstGeom prst="roundRect">
            <a:avLst>
              <a:gd name="adj" fmla="val 50000"/>
            </a:avLst>
          </a:prstGeom>
          <a:solidFill>
            <a:srgbClr val="13294B"/>
          </a:solidFill>
          <a:ln w="12700">
            <a:solidFill>
              <a:srgbClr val="2563EB"/>
            </a:solidFill>
          </a:ln>
        </p:spPr>
        <p:txBody>
          <a:bodyPr wrap="square" lIns="152400" tIns="0" rIns="152400" bIns="0" rtlCol="0" anchor="ctr">
            <a:noAutofit/>
          </a:bodyPr>
          <a:lstStyle/>
          <a:p>
            <a:pPr algn="ctr">
              <a:spcBef>
                <a:spcPts val="0"/>
              </a:spcBef>
              <a:buNone/>
            </a:pPr>
            <a:r>
              <a:rPr lang="en-US" sz="1400" b="0" dirty="0">
                <a:solidFill>
                  <a:srgbClr val="E2E8F0"/>
                </a:solidFill>
              </a:rPr>
              <a:t>Playwright + TypeScript</a:t>
            </a:r>
          </a:p>
        </p:txBody>
      </p:sp>
    </p:spTree>
    <p:extLst>
      <p:ext uri="{BB962C8B-B14F-4D97-AF65-F5344CB8AC3E}">
        <p14:creationId xmlns:p14="http://schemas.microsoft.com/office/powerpoint/2010/main" val="13815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F3A61-0CCE-6A93-A821-323C440E3D52}"/>
              </a:ext>
            </a:extLst>
          </p:cNvPr>
          <p:cNvSpPr>
            <a:spLocks noGrp="1"/>
          </p:cNvSpPr>
          <p:nvPr>
            <p:ph type="title"/>
          </p:nvPr>
        </p:nvSpPr>
        <p:spPr>
          <a:xfrm>
            <a:off x="609600" y="304800"/>
            <a:ext cx="10972800" cy="914400"/>
          </a:xfrm>
        </p:spPr>
        <p:txBody>
          <a:bodyPr/>
          <a:lstStyle/>
          <a:p>
            <a:pPr algn="l">
              <a:spcBef>
                <a:spcPts val="0"/>
              </a:spcBef>
              <a:buNone/>
            </a:pPr>
            <a:r>
              <a:rPr lang="en-US" sz="3200" b="1" dirty="0">
                <a:solidFill>
                  <a:srgbClr val="0B1B33"/>
                </a:solidFill>
              </a:rPr>
              <a:t>What will we learn?</a:t>
            </a:r>
          </a:p>
        </p:txBody>
      </p:sp>
      <p:sp>
        <p:nvSpPr>
          <p:cNvPr id="10" name="Shape 10"/>
          <p:cNvSpPr/>
          <p:nvPr/>
        </p:nvSpPr>
        <p:spPr>
          <a:xfrm>
            <a:off x="609600" y="1422400"/>
            <a:ext cx="2052320" cy="2946400"/>
          </a:xfrm>
          <a:prstGeom prst="roundRect">
            <a:avLst>
              <a:gd name="adj" fmla="val 6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20" name="Shape 20"/>
          <p:cNvSpPr txBox="1"/>
          <p:nvPr/>
        </p:nvSpPr>
        <p:spPr>
          <a:xfrm>
            <a:off x="812800" y="1600200"/>
            <a:ext cx="762000" cy="304800"/>
          </a:xfrm>
          <a:prstGeom prst="rect">
            <a:avLst/>
          </a:prstGeom>
          <a:noFill/>
          <a:ln>
            <a:noFill/>
          </a:ln>
        </p:spPr>
        <p:txBody>
          <a:bodyPr wrap="square" lIns="0" tIns="0" rIns="0" bIns="0" rtlCol="0" anchor="t">
            <a:noAutofit/>
          </a:bodyPr>
          <a:lstStyle/>
          <a:p>
            <a:pPr algn="l">
              <a:spcBef>
                <a:spcPts val="0"/>
              </a:spcBef>
              <a:buNone/>
            </a:pPr>
            <a:r>
              <a:rPr lang="en-US" sz="1400" b="1" dirty="0">
                <a:solidFill>
                  <a:srgbClr val="2563EB"/>
                </a:solidFill>
              </a:rPr>
              <a:t>01</a:t>
            </a:r>
          </a:p>
        </p:txBody>
      </p:sp>
      <p:sp>
        <p:nvSpPr>
          <p:cNvPr id="30" name="Shape 30"/>
          <p:cNvSpPr txBox="1"/>
          <p:nvPr/>
        </p:nvSpPr>
        <p:spPr>
          <a:xfrm>
            <a:off x="812800" y="2870200"/>
            <a:ext cx="1645920" cy="1524000"/>
          </a:xfrm>
          <a:prstGeom prst="rect">
            <a:avLst/>
          </a:prstGeom>
          <a:noFill/>
          <a:ln>
            <a:noFill/>
          </a:ln>
        </p:spPr>
        <p:txBody>
          <a:bodyPr wrap="square" lIns="0" tIns="0" rIns="0" bIns="0" rtlCol="0" anchor="t">
            <a:noAutofit/>
          </a:bodyPr>
          <a:lstStyle/>
          <a:p>
            <a:pPr algn="l">
              <a:lnSpc>
                <a:spcPct val="105000"/>
              </a:lnSpc>
              <a:spcBef>
                <a:spcPts val="0"/>
              </a:spcBef>
              <a:buNone/>
            </a:pPr>
            <a:r>
              <a:rPr lang="en-US" sz="1700" b="1" dirty="0">
                <a:solidFill>
                  <a:srgbClr val="0B1B33"/>
                </a:solidFill>
              </a:rPr>
              <a:t>How Copilot helps with test automation</a:t>
            </a:r>
          </a:p>
        </p:txBody>
      </p:sp>
      <p:sp>
        <p:nvSpPr>
          <p:cNvPr id="11" name="Shape 11"/>
          <p:cNvSpPr/>
          <p:nvPr/>
        </p:nvSpPr>
        <p:spPr>
          <a:xfrm>
            <a:off x="2839720" y="1422400"/>
            <a:ext cx="2052320" cy="2946400"/>
          </a:xfrm>
          <a:prstGeom prst="roundRect">
            <a:avLst>
              <a:gd name="adj" fmla="val 6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21" name="Shape 21"/>
          <p:cNvSpPr txBox="1"/>
          <p:nvPr/>
        </p:nvSpPr>
        <p:spPr>
          <a:xfrm>
            <a:off x="3042920" y="1600200"/>
            <a:ext cx="762000" cy="304800"/>
          </a:xfrm>
          <a:prstGeom prst="rect">
            <a:avLst/>
          </a:prstGeom>
          <a:noFill/>
          <a:ln>
            <a:noFill/>
          </a:ln>
        </p:spPr>
        <p:txBody>
          <a:bodyPr wrap="square" lIns="0" tIns="0" rIns="0" bIns="0" rtlCol="0" anchor="t">
            <a:noAutofit/>
          </a:bodyPr>
          <a:lstStyle/>
          <a:p>
            <a:pPr algn="l">
              <a:spcBef>
                <a:spcPts val="0"/>
              </a:spcBef>
              <a:buNone/>
            </a:pPr>
            <a:r>
              <a:rPr lang="en-US" sz="1400" b="1" dirty="0">
                <a:solidFill>
                  <a:srgbClr val="2563EB"/>
                </a:solidFill>
              </a:rPr>
              <a:t>02</a:t>
            </a:r>
          </a:p>
        </p:txBody>
      </p:sp>
      <p:sp>
        <p:nvSpPr>
          <p:cNvPr id="31" name="Shape 31"/>
          <p:cNvSpPr txBox="1"/>
          <p:nvPr/>
        </p:nvSpPr>
        <p:spPr>
          <a:xfrm>
            <a:off x="3042920" y="2870200"/>
            <a:ext cx="1645920" cy="1524000"/>
          </a:xfrm>
          <a:prstGeom prst="rect">
            <a:avLst/>
          </a:prstGeom>
          <a:noFill/>
          <a:ln>
            <a:noFill/>
          </a:ln>
        </p:spPr>
        <p:txBody>
          <a:bodyPr wrap="square" lIns="0" tIns="0" rIns="0" bIns="0" rtlCol="0" anchor="t">
            <a:noAutofit/>
          </a:bodyPr>
          <a:lstStyle/>
          <a:p>
            <a:pPr algn="l">
              <a:lnSpc>
                <a:spcPct val="105000"/>
              </a:lnSpc>
              <a:spcBef>
                <a:spcPts val="0"/>
              </a:spcBef>
              <a:buNone/>
            </a:pPr>
            <a:r>
              <a:rPr lang="en-US" sz="1700" b="1" dirty="0">
                <a:solidFill>
                  <a:srgbClr val="0B1B33"/>
                </a:solidFill>
              </a:rPr>
              <a:t>Review existing Playwright tests</a:t>
            </a:r>
          </a:p>
        </p:txBody>
      </p:sp>
      <p:sp>
        <p:nvSpPr>
          <p:cNvPr id="12" name="Shape 12"/>
          <p:cNvSpPr/>
          <p:nvPr/>
        </p:nvSpPr>
        <p:spPr>
          <a:xfrm>
            <a:off x="5069840" y="1422400"/>
            <a:ext cx="2052320" cy="2946400"/>
          </a:xfrm>
          <a:prstGeom prst="roundRect">
            <a:avLst>
              <a:gd name="adj" fmla="val 6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22" name="Shape 22"/>
          <p:cNvSpPr txBox="1"/>
          <p:nvPr/>
        </p:nvSpPr>
        <p:spPr>
          <a:xfrm>
            <a:off x="5273040" y="1600200"/>
            <a:ext cx="762000" cy="304800"/>
          </a:xfrm>
          <a:prstGeom prst="rect">
            <a:avLst/>
          </a:prstGeom>
          <a:noFill/>
          <a:ln>
            <a:noFill/>
          </a:ln>
        </p:spPr>
        <p:txBody>
          <a:bodyPr wrap="square" lIns="0" tIns="0" rIns="0" bIns="0" rtlCol="0" anchor="t">
            <a:noAutofit/>
          </a:bodyPr>
          <a:lstStyle/>
          <a:p>
            <a:pPr algn="l">
              <a:spcBef>
                <a:spcPts val="0"/>
              </a:spcBef>
              <a:buNone/>
            </a:pPr>
            <a:r>
              <a:rPr lang="en-US" sz="1400" b="1" dirty="0">
                <a:solidFill>
                  <a:srgbClr val="2563EB"/>
                </a:solidFill>
              </a:rPr>
              <a:t>03</a:t>
            </a:r>
          </a:p>
        </p:txBody>
      </p:sp>
      <p:sp>
        <p:nvSpPr>
          <p:cNvPr id="32" name="Shape 32"/>
          <p:cNvSpPr txBox="1"/>
          <p:nvPr/>
        </p:nvSpPr>
        <p:spPr>
          <a:xfrm>
            <a:off x="5273040" y="2870200"/>
            <a:ext cx="1645920" cy="1524000"/>
          </a:xfrm>
          <a:prstGeom prst="rect">
            <a:avLst/>
          </a:prstGeom>
          <a:noFill/>
          <a:ln>
            <a:noFill/>
          </a:ln>
        </p:spPr>
        <p:txBody>
          <a:bodyPr wrap="square" lIns="0" tIns="0" rIns="0" bIns="0" rtlCol="0" anchor="t">
            <a:noAutofit/>
          </a:bodyPr>
          <a:lstStyle/>
          <a:p>
            <a:pPr algn="l">
              <a:lnSpc>
                <a:spcPct val="105000"/>
              </a:lnSpc>
              <a:spcBef>
                <a:spcPts val="0"/>
              </a:spcBef>
              <a:buNone/>
            </a:pPr>
            <a:r>
              <a:rPr lang="en-US" sz="1700" b="1" dirty="0">
                <a:solidFill>
                  <a:srgbClr val="0B1B33"/>
                </a:solidFill>
              </a:rPr>
              <a:t>Find missing test scenarios</a:t>
            </a:r>
          </a:p>
        </p:txBody>
      </p:sp>
      <p:sp>
        <p:nvSpPr>
          <p:cNvPr id="13" name="Shape 13"/>
          <p:cNvSpPr/>
          <p:nvPr/>
        </p:nvSpPr>
        <p:spPr>
          <a:xfrm>
            <a:off x="7299960" y="1422400"/>
            <a:ext cx="2052320" cy="2946400"/>
          </a:xfrm>
          <a:prstGeom prst="roundRect">
            <a:avLst>
              <a:gd name="adj" fmla="val 6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23" name="Shape 23"/>
          <p:cNvSpPr txBox="1"/>
          <p:nvPr/>
        </p:nvSpPr>
        <p:spPr>
          <a:xfrm>
            <a:off x="7503160" y="1600200"/>
            <a:ext cx="762000" cy="304800"/>
          </a:xfrm>
          <a:prstGeom prst="rect">
            <a:avLst/>
          </a:prstGeom>
          <a:noFill/>
          <a:ln>
            <a:noFill/>
          </a:ln>
        </p:spPr>
        <p:txBody>
          <a:bodyPr wrap="square" lIns="0" tIns="0" rIns="0" bIns="0" rtlCol="0" anchor="t">
            <a:noAutofit/>
          </a:bodyPr>
          <a:lstStyle/>
          <a:p>
            <a:pPr algn="l">
              <a:spcBef>
                <a:spcPts val="0"/>
              </a:spcBef>
              <a:buNone/>
            </a:pPr>
            <a:r>
              <a:rPr lang="en-US" sz="1400" b="1" dirty="0">
                <a:solidFill>
                  <a:srgbClr val="2563EB"/>
                </a:solidFill>
              </a:rPr>
              <a:t>04</a:t>
            </a:r>
          </a:p>
        </p:txBody>
      </p:sp>
      <p:sp>
        <p:nvSpPr>
          <p:cNvPr id="33" name="Shape 33"/>
          <p:cNvSpPr txBox="1"/>
          <p:nvPr/>
        </p:nvSpPr>
        <p:spPr>
          <a:xfrm>
            <a:off x="7503160" y="2870200"/>
            <a:ext cx="1645920" cy="1524000"/>
          </a:xfrm>
          <a:prstGeom prst="rect">
            <a:avLst/>
          </a:prstGeom>
          <a:noFill/>
          <a:ln>
            <a:noFill/>
          </a:ln>
        </p:spPr>
        <p:txBody>
          <a:bodyPr wrap="square" lIns="0" tIns="0" rIns="0" bIns="0" rtlCol="0" anchor="t">
            <a:noAutofit/>
          </a:bodyPr>
          <a:lstStyle/>
          <a:p>
            <a:pPr algn="l">
              <a:lnSpc>
                <a:spcPct val="105000"/>
              </a:lnSpc>
              <a:spcBef>
                <a:spcPts val="0"/>
              </a:spcBef>
              <a:buNone/>
            </a:pPr>
            <a:r>
              <a:rPr lang="en-US" sz="1700" b="1" dirty="0">
                <a:solidFill>
                  <a:srgbClr val="0B1B33"/>
                </a:solidFill>
              </a:rPr>
              <a:t>Improve assertions and coverage</a:t>
            </a:r>
          </a:p>
        </p:txBody>
      </p:sp>
      <p:sp>
        <p:nvSpPr>
          <p:cNvPr id="14" name="Shape 14"/>
          <p:cNvSpPr/>
          <p:nvPr/>
        </p:nvSpPr>
        <p:spPr>
          <a:xfrm>
            <a:off x="9530080" y="1422400"/>
            <a:ext cx="2052320" cy="2946400"/>
          </a:xfrm>
          <a:prstGeom prst="roundRect">
            <a:avLst>
              <a:gd name="adj" fmla="val 6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24" name="Shape 24"/>
          <p:cNvSpPr txBox="1"/>
          <p:nvPr/>
        </p:nvSpPr>
        <p:spPr>
          <a:xfrm>
            <a:off x="9733280" y="1600200"/>
            <a:ext cx="762000" cy="304800"/>
          </a:xfrm>
          <a:prstGeom prst="rect">
            <a:avLst/>
          </a:prstGeom>
          <a:noFill/>
          <a:ln>
            <a:noFill/>
          </a:ln>
        </p:spPr>
        <p:txBody>
          <a:bodyPr wrap="square" lIns="0" tIns="0" rIns="0" bIns="0" rtlCol="0" anchor="t">
            <a:noAutofit/>
          </a:bodyPr>
          <a:lstStyle/>
          <a:p>
            <a:pPr algn="l">
              <a:spcBef>
                <a:spcPts val="0"/>
              </a:spcBef>
              <a:buNone/>
            </a:pPr>
            <a:r>
              <a:rPr lang="en-US" sz="1400" b="1" dirty="0">
                <a:solidFill>
                  <a:srgbClr val="2563EB"/>
                </a:solidFill>
              </a:rPr>
              <a:t>05</a:t>
            </a:r>
          </a:p>
        </p:txBody>
      </p:sp>
      <p:sp>
        <p:nvSpPr>
          <p:cNvPr id="34" name="Shape 34"/>
          <p:cNvSpPr txBox="1"/>
          <p:nvPr/>
        </p:nvSpPr>
        <p:spPr>
          <a:xfrm>
            <a:off x="9733280" y="2870200"/>
            <a:ext cx="1645920" cy="1524000"/>
          </a:xfrm>
          <a:prstGeom prst="rect">
            <a:avLst/>
          </a:prstGeom>
          <a:noFill/>
          <a:ln>
            <a:noFill/>
          </a:ln>
        </p:spPr>
        <p:txBody>
          <a:bodyPr wrap="square" lIns="0" tIns="0" rIns="0" bIns="0" rtlCol="0" anchor="t">
            <a:noAutofit/>
          </a:bodyPr>
          <a:lstStyle/>
          <a:p>
            <a:pPr algn="l">
              <a:lnSpc>
                <a:spcPct val="105000"/>
              </a:lnSpc>
              <a:spcBef>
                <a:spcPts val="0"/>
              </a:spcBef>
              <a:buNone/>
            </a:pPr>
            <a:r>
              <a:rPr lang="en-US" sz="1700" b="1" dirty="0">
                <a:solidFill>
                  <a:srgbClr val="0B1B33"/>
                </a:solidFill>
              </a:rPr>
              <a:t>Why human review still matters</a:t>
            </a:r>
          </a:p>
        </p:txBody>
      </p:sp>
      <p:sp>
        <p:nvSpPr>
          <p:cNvPr id="40" name="Shape 40"/>
          <p:cNvSpPr txBox="1"/>
          <p:nvPr/>
        </p:nvSpPr>
        <p:spPr>
          <a:xfrm>
            <a:off x="609600" y="4724400"/>
            <a:ext cx="6350000" cy="304800"/>
          </a:xfrm>
          <a:prstGeom prst="rect">
            <a:avLst/>
          </a:prstGeom>
          <a:noFill/>
          <a:ln>
            <a:noFill/>
          </a:ln>
        </p:spPr>
        <p:txBody>
          <a:bodyPr wrap="square" lIns="0" tIns="0" rIns="0" bIns="0" rtlCol="0" anchor="t">
            <a:noAutofit/>
          </a:bodyPr>
          <a:lstStyle/>
          <a:p>
            <a:pPr algn="l">
              <a:spcBef>
                <a:spcPts val="0"/>
              </a:spcBef>
              <a:buNone/>
            </a:pPr>
            <a:r>
              <a:rPr lang="en-US" sz="1400" b="1" dirty="0">
                <a:solidFill>
                  <a:srgbClr val="64748B"/>
                </a:solidFill>
              </a:rPr>
              <a:t>THE WORKFLOW WE WILL FOLLOW</a:t>
            </a:r>
          </a:p>
        </p:txBody>
      </p:sp>
      <p:sp>
        <p:nvSpPr>
          <p:cNvPr id="50" name="Shape 50"/>
          <p:cNvSpPr/>
          <p:nvPr/>
        </p:nvSpPr>
        <p:spPr>
          <a:xfrm>
            <a:off x="609600" y="5105400"/>
            <a:ext cx="2286000" cy="762000"/>
          </a:xfrm>
          <a:prstGeom prst="homePlate">
            <a:avLst>
              <a:gd name="adj" fmla="val 30000"/>
            </a:avLst>
          </a:prstGeom>
          <a:solidFill>
            <a:srgbClr val="13294B"/>
          </a:solidFill>
          <a:ln>
            <a:noFill/>
          </a:ln>
        </p:spPr>
        <p:txBody>
          <a:bodyPr wrap="square" lIns="152400" tIns="0" rIns="152400" bIns="0" rtlCol="0" anchor="ctr">
            <a:noAutofit/>
          </a:bodyPr>
          <a:lstStyle/>
          <a:p>
            <a:pPr algn="ctr">
              <a:spcBef>
                <a:spcPts val="0"/>
              </a:spcBef>
              <a:buNone/>
            </a:pPr>
            <a:r>
              <a:rPr lang="en-US" sz="1500" b="1" dirty="0">
                <a:solidFill>
                  <a:srgbClr val="FFFFFF"/>
                </a:solidFill>
              </a:rPr>
              <a:t>Open the test</a:t>
            </a:r>
          </a:p>
        </p:txBody>
      </p:sp>
      <p:sp>
        <p:nvSpPr>
          <p:cNvPr id="51" name="Shape 51"/>
          <p:cNvSpPr/>
          <p:nvPr/>
        </p:nvSpPr>
        <p:spPr>
          <a:xfrm>
            <a:off x="2781300" y="5105400"/>
            <a:ext cx="2286000" cy="762000"/>
          </a:xfrm>
          <a:prstGeom prst="chevron">
            <a:avLst>
              <a:gd name="adj" fmla="val 30000"/>
            </a:avLst>
          </a:prstGeom>
          <a:solidFill>
            <a:srgbClr val="13294B"/>
          </a:solidFill>
          <a:ln>
            <a:noFill/>
          </a:ln>
        </p:spPr>
        <p:txBody>
          <a:bodyPr wrap="square" lIns="304800" tIns="0" rIns="304800" bIns="0" rtlCol="0" anchor="ctr">
            <a:noAutofit/>
          </a:bodyPr>
          <a:lstStyle/>
          <a:p>
            <a:pPr algn="ctr">
              <a:spcBef>
                <a:spcPts val="0"/>
              </a:spcBef>
              <a:buNone/>
            </a:pPr>
            <a:r>
              <a:rPr lang="en-US" sz="1500" b="1" dirty="0">
                <a:solidFill>
                  <a:srgbClr val="FFFFFF"/>
                </a:solidFill>
              </a:rPr>
              <a:t>Ask Copilot</a:t>
            </a:r>
          </a:p>
        </p:txBody>
      </p:sp>
      <p:sp>
        <p:nvSpPr>
          <p:cNvPr id="52" name="Shape 52"/>
          <p:cNvSpPr/>
          <p:nvPr/>
        </p:nvSpPr>
        <p:spPr>
          <a:xfrm>
            <a:off x="4953000" y="5105400"/>
            <a:ext cx="2286000" cy="762000"/>
          </a:xfrm>
          <a:prstGeom prst="chevron">
            <a:avLst>
              <a:gd name="adj" fmla="val 30000"/>
            </a:avLst>
          </a:prstGeom>
          <a:solidFill>
            <a:srgbClr val="2563EB"/>
          </a:solidFill>
          <a:ln>
            <a:noFill/>
          </a:ln>
        </p:spPr>
        <p:txBody>
          <a:bodyPr wrap="square" lIns="304800" tIns="0" rIns="304800" bIns="0" rtlCol="0" anchor="ctr">
            <a:noAutofit/>
          </a:bodyPr>
          <a:lstStyle/>
          <a:p>
            <a:pPr algn="ctr">
              <a:spcBef>
                <a:spcPts val="0"/>
              </a:spcBef>
              <a:buNone/>
            </a:pPr>
            <a:r>
              <a:rPr lang="en-US" sz="1500" b="1" dirty="0">
                <a:solidFill>
                  <a:srgbClr val="FFFFFF"/>
                </a:solidFill>
              </a:rPr>
              <a:t>Validate findings</a:t>
            </a:r>
          </a:p>
        </p:txBody>
      </p:sp>
      <p:sp>
        <p:nvSpPr>
          <p:cNvPr id="53" name="Shape 53"/>
          <p:cNvSpPr/>
          <p:nvPr/>
        </p:nvSpPr>
        <p:spPr>
          <a:xfrm>
            <a:off x="7124700" y="5105400"/>
            <a:ext cx="2286000" cy="762000"/>
          </a:xfrm>
          <a:prstGeom prst="chevron">
            <a:avLst>
              <a:gd name="adj" fmla="val 30000"/>
            </a:avLst>
          </a:prstGeom>
          <a:solidFill>
            <a:srgbClr val="13294B"/>
          </a:solidFill>
          <a:ln>
            <a:noFill/>
          </a:ln>
        </p:spPr>
        <p:txBody>
          <a:bodyPr wrap="square" lIns="304800" tIns="0" rIns="304800" bIns="0" rtlCol="0" anchor="ctr">
            <a:noAutofit/>
          </a:bodyPr>
          <a:lstStyle/>
          <a:p>
            <a:pPr algn="ctr">
              <a:spcBef>
                <a:spcPts val="0"/>
              </a:spcBef>
              <a:buNone/>
            </a:pPr>
            <a:r>
              <a:rPr lang="en-US" sz="1500" b="1" dirty="0">
                <a:solidFill>
                  <a:srgbClr val="FFFFFF"/>
                </a:solidFill>
              </a:rPr>
              <a:t>Improve tests</a:t>
            </a:r>
          </a:p>
        </p:txBody>
      </p:sp>
      <p:sp>
        <p:nvSpPr>
          <p:cNvPr id="54" name="Shape 54"/>
          <p:cNvSpPr/>
          <p:nvPr/>
        </p:nvSpPr>
        <p:spPr>
          <a:xfrm>
            <a:off x="9296400" y="5105400"/>
            <a:ext cx="2286000" cy="762000"/>
          </a:xfrm>
          <a:prstGeom prst="chevron">
            <a:avLst>
              <a:gd name="adj" fmla="val 30000"/>
            </a:avLst>
          </a:prstGeom>
          <a:solidFill>
            <a:srgbClr val="13294B"/>
          </a:solidFill>
          <a:ln>
            <a:noFill/>
          </a:ln>
        </p:spPr>
        <p:txBody>
          <a:bodyPr wrap="square" lIns="304800" tIns="0" rIns="304800" bIns="0" rtlCol="0" anchor="ctr">
            <a:noAutofit/>
          </a:bodyPr>
          <a:lstStyle/>
          <a:p>
            <a:pPr algn="ctr">
              <a:spcBef>
                <a:spcPts val="0"/>
              </a:spcBef>
              <a:buNone/>
            </a:pPr>
            <a:r>
              <a:rPr lang="en-US" sz="1500" b="1" dirty="0">
                <a:solidFill>
                  <a:srgbClr val="FFFFFF"/>
                </a:solidFill>
              </a:rPr>
              <a:t>Run and verify</a:t>
            </a:r>
          </a:p>
        </p:txBody>
      </p:sp>
      <p:pic>
        <p:nvPicPr>
          <p:cNvPr id="55" name="Graphic 55" descr="AI"/>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2800" y="2082800"/>
            <a:ext cx="609600" cy="609600"/>
          </a:xfrm>
          <a:prstGeom prst="rect">
            <a:avLst/>
          </a:prstGeom>
        </p:spPr>
      </p:pic>
      <p:pic>
        <p:nvPicPr>
          <p:cNvPr id="56" name="Graphic 56" descr="Review"/>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42920" y="2082800"/>
            <a:ext cx="609600" cy="609600"/>
          </a:xfrm>
          <a:prstGeom prst="rect">
            <a:avLst/>
          </a:prstGeom>
        </p:spPr>
      </p:pic>
      <p:pic>
        <p:nvPicPr>
          <p:cNvPr id="57" name="Graphic 57" descr="Scenarios"/>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73040" y="2082800"/>
            <a:ext cx="609600" cy="609600"/>
          </a:xfrm>
          <a:prstGeom prst="rect">
            <a:avLst/>
          </a:prstGeom>
        </p:spPr>
      </p:pic>
      <p:pic>
        <p:nvPicPr>
          <p:cNvPr id="58" name="Graphic 58" descr="Assertions"/>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03160" y="2082800"/>
            <a:ext cx="609600" cy="609600"/>
          </a:xfrm>
          <a:prstGeom prst="rect">
            <a:avLst/>
          </a:prstGeom>
        </p:spPr>
      </p:pic>
      <p:pic>
        <p:nvPicPr>
          <p:cNvPr id="59" name="Graphic 59" descr="Human review"/>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733280" y="2082800"/>
            <a:ext cx="609600" cy="609600"/>
          </a:xfrm>
          <a:prstGeom prst="rect">
            <a:avLst/>
          </a:prstGeom>
        </p:spPr>
      </p:pic>
    </p:spTree>
    <p:extLst>
      <p:ext uri="{BB962C8B-B14F-4D97-AF65-F5344CB8AC3E}">
        <p14:creationId xmlns:p14="http://schemas.microsoft.com/office/powerpoint/2010/main" val="2321157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27E3B-69AE-BEA7-EE28-B871F60DB774}"/>
              </a:ext>
            </a:extLst>
          </p:cNvPr>
          <p:cNvSpPr>
            <a:spLocks noGrp="1"/>
          </p:cNvSpPr>
          <p:nvPr>
            <p:ph type="title"/>
          </p:nvPr>
        </p:nvSpPr>
        <p:spPr>
          <a:xfrm>
            <a:off x="609600" y="304800"/>
            <a:ext cx="10972800" cy="914400"/>
          </a:xfrm>
        </p:spPr>
        <p:txBody>
          <a:bodyPr/>
          <a:lstStyle/>
          <a:p>
            <a:pPr algn="l">
              <a:spcBef>
                <a:spcPts val="0"/>
              </a:spcBef>
              <a:buNone/>
            </a:pPr>
            <a:r>
              <a:rPr lang="en-US" sz="3200" b="1" dirty="0">
                <a:solidFill>
                  <a:srgbClr val="0B1B33"/>
                </a:solidFill>
              </a:rPr>
              <a:t>Prerequisites</a:t>
            </a:r>
          </a:p>
        </p:txBody>
      </p:sp>
      <p:sp>
        <p:nvSpPr>
          <p:cNvPr id="10" name="Shape 10"/>
          <p:cNvSpPr/>
          <p:nvPr/>
        </p:nvSpPr>
        <p:spPr>
          <a:xfrm>
            <a:off x="609600" y="1473200"/>
            <a:ext cx="6350000" cy="939800"/>
          </a:xfrm>
          <a:prstGeom prst="roundRect">
            <a:avLst>
              <a:gd name="adj" fmla="val 8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20" name="Shape 20"/>
          <p:cNvSpPr txBox="1"/>
          <p:nvPr/>
        </p:nvSpPr>
        <p:spPr>
          <a:xfrm>
            <a:off x="1524000" y="1600200"/>
            <a:ext cx="5283200" cy="711200"/>
          </a:xfrm>
          <a:prstGeom prst="rect">
            <a:avLst/>
          </a:prstGeom>
          <a:noFill/>
          <a:ln>
            <a:noFill/>
          </a:ln>
        </p:spPr>
        <p:txBody>
          <a:bodyPr wrap="square" lIns="0" tIns="0" rIns="0" bIns="0" rtlCol="0" anchor="ctr">
            <a:noAutofit/>
          </a:bodyPr>
          <a:lstStyle/>
          <a:p>
            <a:pPr algn="l">
              <a:spcBef>
                <a:spcPts val="0"/>
              </a:spcBef>
              <a:buNone/>
            </a:pPr>
            <a:r>
              <a:rPr lang="en-US" sz="1800" b="1" dirty="0">
                <a:solidFill>
                  <a:srgbClr val="0B1B33"/>
                </a:solidFill>
              </a:rPr>
              <a:t>Visual Studio Code</a:t>
            </a:r>
          </a:p>
          <a:p>
            <a:pPr algn="l">
              <a:spcBef>
                <a:spcPts val="200"/>
              </a:spcBef>
              <a:buNone/>
            </a:pPr>
            <a:r>
              <a:rPr lang="en-US" sz="1400" b="0" dirty="0">
                <a:solidFill>
                  <a:srgbClr val="475569"/>
                </a:solidFill>
              </a:rPr>
              <a:t>The code editor where we open the project</a:t>
            </a:r>
          </a:p>
        </p:txBody>
      </p:sp>
      <p:sp>
        <p:nvSpPr>
          <p:cNvPr id="11" name="Shape 11"/>
          <p:cNvSpPr/>
          <p:nvPr/>
        </p:nvSpPr>
        <p:spPr>
          <a:xfrm>
            <a:off x="609600" y="2565400"/>
            <a:ext cx="6350000" cy="939800"/>
          </a:xfrm>
          <a:prstGeom prst="roundRect">
            <a:avLst>
              <a:gd name="adj" fmla="val 8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21" name="Shape 21"/>
          <p:cNvSpPr txBox="1"/>
          <p:nvPr/>
        </p:nvSpPr>
        <p:spPr>
          <a:xfrm>
            <a:off x="1524000" y="2692400"/>
            <a:ext cx="5283200" cy="711200"/>
          </a:xfrm>
          <a:prstGeom prst="rect">
            <a:avLst/>
          </a:prstGeom>
          <a:noFill/>
          <a:ln>
            <a:noFill/>
          </a:ln>
        </p:spPr>
        <p:txBody>
          <a:bodyPr wrap="square" lIns="0" tIns="0" rIns="0" bIns="0" rtlCol="0" anchor="ctr">
            <a:noAutofit/>
          </a:bodyPr>
          <a:lstStyle/>
          <a:p>
            <a:pPr algn="l">
              <a:spcBef>
                <a:spcPts val="0"/>
              </a:spcBef>
              <a:buNone/>
            </a:pPr>
            <a:r>
              <a:rPr lang="en-US" sz="1800" b="1" dirty="0">
                <a:solidFill>
                  <a:srgbClr val="0B1B33"/>
                </a:solidFill>
              </a:rPr>
              <a:t>GitHub Copilot access</a:t>
            </a:r>
          </a:p>
          <a:p>
            <a:pPr algn="l">
              <a:spcBef>
                <a:spcPts val="200"/>
              </a:spcBef>
              <a:buNone/>
            </a:pPr>
            <a:r>
              <a:rPr lang="en-US" sz="1400" b="0" dirty="0">
                <a:solidFill>
                  <a:srgbClr val="475569"/>
                </a:solidFill>
              </a:rPr>
              <a:t>Copilot extension installed and signed in</a:t>
            </a:r>
          </a:p>
        </p:txBody>
      </p:sp>
      <p:sp>
        <p:nvSpPr>
          <p:cNvPr id="12" name="Shape 12"/>
          <p:cNvSpPr/>
          <p:nvPr/>
        </p:nvSpPr>
        <p:spPr>
          <a:xfrm>
            <a:off x="609600" y="3657600"/>
            <a:ext cx="6350000" cy="939800"/>
          </a:xfrm>
          <a:prstGeom prst="roundRect">
            <a:avLst>
              <a:gd name="adj" fmla="val 8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22" name="Shape 22"/>
          <p:cNvSpPr txBox="1"/>
          <p:nvPr/>
        </p:nvSpPr>
        <p:spPr>
          <a:xfrm>
            <a:off x="1524000" y="3784600"/>
            <a:ext cx="5283200" cy="711200"/>
          </a:xfrm>
          <a:prstGeom prst="rect">
            <a:avLst/>
          </a:prstGeom>
          <a:noFill/>
          <a:ln>
            <a:noFill/>
          </a:ln>
        </p:spPr>
        <p:txBody>
          <a:bodyPr wrap="square" lIns="0" tIns="0" rIns="0" bIns="0" rtlCol="0" anchor="ctr">
            <a:noAutofit/>
          </a:bodyPr>
          <a:lstStyle/>
          <a:p>
            <a:pPr algn="l">
              <a:spcBef>
                <a:spcPts val="0"/>
              </a:spcBef>
              <a:buNone/>
            </a:pPr>
            <a:r>
              <a:rPr lang="en-US" sz="1800" b="1" dirty="0">
                <a:solidFill>
                  <a:srgbClr val="0B1B33"/>
                </a:solidFill>
              </a:rPr>
              <a:t>Node.js and npm</a:t>
            </a:r>
          </a:p>
          <a:p>
            <a:pPr algn="l">
              <a:spcBef>
                <a:spcPts val="200"/>
              </a:spcBef>
              <a:buNone/>
            </a:pPr>
            <a:r>
              <a:rPr lang="en-US" sz="1400" b="0" dirty="0">
                <a:solidFill>
                  <a:srgbClr val="475569"/>
                </a:solidFill>
              </a:rPr>
              <a:t>Needed to install and run Playwright</a:t>
            </a:r>
          </a:p>
        </p:txBody>
      </p:sp>
      <p:sp>
        <p:nvSpPr>
          <p:cNvPr id="13" name="Shape 13"/>
          <p:cNvSpPr/>
          <p:nvPr/>
        </p:nvSpPr>
        <p:spPr>
          <a:xfrm>
            <a:off x="609600" y="4749800"/>
            <a:ext cx="6350000" cy="939800"/>
          </a:xfrm>
          <a:prstGeom prst="roundRect">
            <a:avLst>
              <a:gd name="adj" fmla="val 8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23" name="Shape 23"/>
          <p:cNvSpPr txBox="1"/>
          <p:nvPr/>
        </p:nvSpPr>
        <p:spPr>
          <a:xfrm>
            <a:off x="1524000" y="4876800"/>
            <a:ext cx="5283200" cy="711200"/>
          </a:xfrm>
          <a:prstGeom prst="rect">
            <a:avLst/>
          </a:prstGeom>
          <a:noFill/>
          <a:ln>
            <a:noFill/>
          </a:ln>
        </p:spPr>
        <p:txBody>
          <a:bodyPr wrap="square" lIns="0" tIns="0" rIns="0" bIns="0" rtlCol="0" anchor="ctr">
            <a:noAutofit/>
          </a:bodyPr>
          <a:lstStyle/>
          <a:p>
            <a:pPr algn="l">
              <a:spcBef>
                <a:spcPts val="0"/>
              </a:spcBef>
              <a:buNone/>
            </a:pPr>
            <a:r>
              <a:rPr lang="en-US" sz="1800" b="1" dirty="0">
                <a:solidFill>
                  <a:srgbClr val="0B1B33"/>
                </a:solidFill>
              </a:rPr>
              <a:t>Playwright TypeScript project</a:t>
            </a:r>
          </a:p>
          <a:p>
            <a:pPr algn="l">
              <a:spcBef>
                <a:spcPts val="200"/>
              </a:spcBef>
              <a:buNone/>
            </a:pPr>
            <a:r>
              <a:rPr lang="en-US" sz="1400" b="0" dirty="0">
                <a:solidFill>
                  <a:srgbClr val="475569"/>
                </a:solidFill>
              </a:rPr>
              <a:t>An existing project with checkout tests</a:t>
            </a:r>
          </a:p>
        </p:txBody>
      </p:sp>
      <p:sp>
        <p:nvSpPr>
          <p:cNvPr id="30" name="Shape 30"/>
          <p:cNvSpPr/>
          <p:nvPr/>
        </p:nvSpPr>
        <p:spPr>
          <a:xfrm>
            <a:off x="7264400" y="1473200"/>
            <a:ext cx="4318000" cy="4216400"/>
          </a:xfrm>
          <a:prstGeom prst="roundRect">
            <a:avLst>
              <a:gd name="adj" fmla="val 5000"/>
            </a:avLst>
          </a:prstGeom>
          <a:solidFill>
            <a:srgbClr val="0B1B33"/>
          </a:solidFill>
          <a:ln>
            <a:noFill/>
          </a:ln>
        </p:spPr>
        <p:txBody>
          <a:bodyPr wrap="square" lIns="127000" tIns="76200" rIns="127000" bIns="76200" rtlCol="0" anchor="t">
            <a:noAutofit/>
          </a:bodyPr>
          <a:lstStyle/>
          <a:p>
            <a:endParaRPr lang="en-US" dirty="0"/>
          </a:p>
        </p:txBody>
      </p:sp>
      <p:sp>
        <p:nvSpPr>
          <p:cNvPr id="31" name="Shape 31"/>
          <p:cNvSpPr txBox="1"/>
          <p:nvPr/>
        </p:nvSpPr>
        <p:spPr>
          <a:xfrm>
            <a:off x="7518400" y="1701800"/>
            <a:ext cx="3810000" cy="304800"/>
          </a:xfrm>
          <a:prstGeom prst="rect">
            <a:avLst/>
          </a:prstGeom>
          <a:noFill/>
          <a:ln>
            <a:noFill/>
          </a:ln>
        </p:spPr>
        <p:txBody>
          <a:bodyPr wrap="square" lIns="0" tIns="0" rIns="0" bIns="0" rtlCol="0" anchor="t">
            <a:noAutofit/>
          </a:bodyPr>
          <a:lstStyle/>
          <a:p>
            <a:pPr algn="l">
              <a:spcBef>
                <a:spcPts val="0"/>
              </a:spcBef>
              <a:buNone/>
            </a:pPr>
            <a:r>
              <a:rPr lang="en-US" sz="1400" b="1" dirty="0">
                <a:solidFill>
                  <a:srgbClr val="60A5FA"/>
                </a:solidFill>
              </a:rPr>
              <a:t>READY FOR THIS DEMO</a:t>
            </a:r>
          </a:p>
        </p:txBody>
      </p:sp>
      <p:sp>
        <p:nvSpPr>
          <p:cNvPr id="32" name="Shape 32"/>
          <p:cNvSpPr txBox="1"/>
          <p:nvPr/>
        </p:nvSpPr>
        <p:spPr>
          <a:xfrm>
            <a:off x="7518400" y="2057400"/>
            <a:ext cx="3810000" cy="1016000"/>
          </a:xfrm>
          <a:prstGeom prst="rect">
            <a:avLst/>
          </a:prstGeom>
          <a:noFill/>
          <a:ln>
            <a:noFill/>
          </a:ln>
        </p:spPr>
        <p:txBody>
          <a:bodyPr wrap="square" lIns="0" tIns="0" rIns="0" bIns="0" rtlCol="0" anchor="t">
            <a:noAutofit/>
          </a:bodyPr>
          <a:lstStyle/>
          <a:p>
            <a:pPr algn="l">
              <a:lnSpc>
                <a:spcPct val="110000"/>
              </a:lnSpc>
              <a:spcBef>
                <a:spcPts val="0"/>
              </a:spcBef>
              <a:buNone/>
            </a:pPr>
            <a:r>
              <a:rPr lang="en-US" sz="1600" b="0" dirty="0">
                <a:solidFill>
                  <a:srgbClr val="FFFFFF"/>
                </a:solidFill>
              </a:rPr>
              <a:t>The project is already installed and configured. We go straight to the review.</a:t>
            </a:r>
          </a:p>
        </p:txBody>
      </p:sp>
      <p:sp>
        <p:nvSpPr>
          <p:cNvPr id="33" name="Shape 33"/>
          <p:cNvSpPr/>
          <p:nvPr/>
        </p:nvSpPr>
        <p:spPr>
          <a:xfrm>
            <a:off x="7518400" y="3327400"/>
            <a:ext cx="3810000" cy="2082800"/>
          </a:xfrm>
          <a:prstGeom prst="roundRect">
            <a:avLst>
              <a:gd name="adj" fmla="val 6000"/>
            </a:avLst>
          </a:prstGeom>
          <a:solidFill>
            <a:srgbClr val="13294B"/>
          </a:solidFill>
          <a:ln>
            <a:noFill/>
          </a:ln>
        </p:spPr>
        <p:txBody>
          <a:bodyPr wrap="square" lIns="177800" tIns="152400" rIns="177800" bIns="152400" rtlCol="0" anchor="t">
            <a:noAutofit/>
          </a:bodyPr>
          <a:lstStyle/>
          <a:p>
            <a:pPr algn="l">
              <a:lnSpc>
                <a:spcPct val="115000"/>
              </a:lnSpc>
              <a:spcBef>
                <a:spcPts val="0"/>
              </a:spcBef>
              <a:buNone/>
            </a:pPr>
            <a:r>
              <a:rPr lang="en-US" sz="1400" b="0" dirty="0">
                <a:solidFill>
                  <a:srgbClr val="7DA3D9"/>
                </a:solidFill>
                <a:latin typeface="Consolas"/>
                <a:cs typeface="Consolas"/>
              </a:rPr>
              <a:t># Starting a new project?</a:t>
            </a:r>
          </a:p>
          <a:p>
            <a:pPr algn="l">
              <a:lnSpc>
                <a:spcPct val="115000"/>
              </a:lnSpc>
              <a:spcBef>
                <a:spcPts val="0"/>
              </a:spcBef>
              <a:buNone/>
            </a:pPr>
            <a:r>
              <a:rPr lang="en-US" sz="1400" b="0" dirty="0">
                <a:solidFill>
                  <a:srgbClr val="E2E8F0"/>
                </a:solidFill>
                <a:latin typeface="Consolas"/>
                <a:cs typeface="Consolas"/>
              </a:rPr>
              <a:t>npm init playwright@latest</a:t>
            </a:r>
          </a:p>
          <a:p>
            <a:pPr>
              <a:buNone/>
            </a:pPr>
            <a:endParaRPr lang="en-US" sz="1000" dirty="0"/>
          </a:p>
          <a:p>
            <a:pPr algn="l">
              <a:lnSpc>
                <a:spcPct val="115000"/>
              </a:lnSpc>
              <a:spcBef>
                <a:spcPts val="0"/>
              </a:spcBef>
              <a:buNone/>
            </a:pPr>
            <a:r>
              <a:rPr lang="en-US" sz="1400" b="0" dirty="0">
                <a:solidFill>
                  <a:srgbClr val="7DA3D9"/>
                </a:solidFill>
                <a:latin typeface="Consolas"/>
                <a:cs typeface="Consolas"/>
              </a:rPr>
              <a:t># Run the tests</a:t>
            </a:r>
          </a:p>
          <a:p>
            <a:pPr algn="l">
              <a:lnSpc>
                <a:spcPct val="115000"/>
              </a:lnSpc>
              <a:spcBef>
                <a:spcPts val="0"/>
              </a:spcBef>
              <a:buNone/>
            </a:pPr>
            <a:r>
              <a:rPr lang="en-US" sz="1400" b="0" dirty="0">
                <a:solidFill>
                  <a:srgbClr val="E2E8F0"/>
                </a:solidFill>
                <a:latin typeface="Consolas"/>
                <a:cs typeface="Consolas"/>
              </a:rPr>
              <a:t>npx playwright test</a:t>
            </a:r>
          </a:p>
        </p:txBody>
      </p:sp>
      <p:pic>
        <p:nvPicPr>
          <p:cNvPr id="34" name="Graphic 34" descr="VS Code"/>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8200" y="1714500"/>
            <a:ext cx="457200" cy="457200"/>
          </a:xfrm>
          <a:prstGeom prst="rect">
            <a:avLst/>
          </a:prstGeom>
        </p:spPr>
      </p:pic>
      <p:pic>
        <p:nvPicPr>
          <p:cNvPr id="35" name="Graphic 35" descr="Copilot"/>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8200" y="2806700"/>
            <a:ext cx="457200" cy="457200"/>
          </a:xfrm>
          <a:prstGeom prst="rect">
            <a:avLst/>
          </a:prstGeom>
        </p:spPr>
      </p:pic>
      <p:pic>
        <p:nvPicPr>
          <p:cNvPr id="36" name="Graphic 36" descr="Node.js"/>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8200" y="3898900"/>
            <a:ext cx="457200" cy="457200"/>
          </a:xfrm>
          <a:prstGeom prst="rect">
            <a:avLst/>
          </a:prstGeom>
        </p:spPr>
      </p:pic>
      <p:pic>
        <p:nvPicPr>
          <p:cNvPr id="37" name="Graphic 37" descr="Project"/>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38200" y="4991100"/>
            <a:ext cx="457200" cy="457200"/>
          </a:xfrm>
          <a:prstGeom prst="rect">
            <a:avLst/>
          </a:prstGeom>
        </p:spPr>
      </p:pic>
    </p:spTree>
    <p:extLst>
      <p:ext uri="{BB962C8B-B14F-4D97-AF65-F5344CB8AC3E}">
        <p14:creationId xmlns:p14="http://schemas.microsoft.com/office/powerpoint/2010/main" val="735552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0FDCE-5EA5-7C2D-EB7D-072EE9EC589A}"/>
              </a:ext>
            </a:extLst>
          </p:cNvPr>
          <p:cNvSpPr>
            <a:spLocks noGrp="1"/>
          </p:cNvSpPr>
          <p:nvPr>
            <p:ph type="title"/>
          </p:nvPr>
        </p:nvSpPr>
        <p:spPr>
          <a:xfrm>
            <a:off x="609600" y="304800"/>
            <a:ext cx="10972800" cy="914400"/>
          </a:xfrm>
        </p:spPr>
        <p:txBody>
          <a:bodyPr/>
          <a:lstStyle/>
          <a:p>
            <a:pPr algn="l">
              <a:spcBef>
                <a:spcPts val="0"/>
              </a:spcBef>
              <a:buNone/>
            </a:pPr>
            <a:r>
              <a:rPr lang="en-US" sz="3200" b="1" dirty="0">
                <a:solidFill>
                  <a:srgbClr val="0B1B33"/>
                </a:solidFill>
              </a:rPr>
              <a:t>Understand the project structure</a:t>
            </a:r>
          </a:p>
        </p:txBody>
      </p:sp>
      <p:sp>
        <p:nvSpPr>
          <p:cNvPr id="10" name="Shape 10"/>
          <p:cNvSpPr/>
          <p:nvPr/>
        </p:nvSpPr>
        <p:spPr>
          <a:xfrm>
            <a:off x="609600" y="1371600"/>
            <a:ext cx="5080000" cy="3581400"/>
          </a:xfrm>
          <a:prstGeom prst="roundRect">
            <a:avLst>
              <a:gd name="adj" fmla="val 4000"/>
            </a:avLst>
          </a:prstGeom>
          <a:solidFill>
            <a:srgbClr val="FFFFFF"/>
          </a:solidFill>
          <a:ln w="25400">
            <a:solidFill>
              <a:srgbClr val="2563EB"/>
            </a:solidFill>
          </a:ln>
        </p:spPr>
        <p:txBody>
          <a:bodyPr wrap="square" lIns="127000" tIns="76200" rIns="127000" bIns="76200" rtlCol="0" anchor="t">
            <a:noAutofit/>
          </a:bodyPr>
          <a:lstStyle/>
          <a:p>
            <a:endParaRPr lang="en-US" dirty="0"/>
          </a:p>
        </p:txBody>
      </p:sp>
      <p:sp>
        <p:nvSpPr>
          <p:cNvPr id="11" name="Shape 11"/>
          <p:cNvSpPr txBox="1"/>
          <p:nvPr/>
        </p:nvSpPr>
        <p:spPr>
          <a:xfrm>
            <a:off x="863600" y="1549400"/>
            <a:ext cx="4572000" cy="279400"/>
          </a:xfrm>
          <a:prstGeom prst="rect">
            <a:avLst/>
          </a:prstGeom>
          <a:noFill/>
          <a:ln>
            <a:noFill/>
          </a:ln>
        </p:spPr>
        <p:txBody>
          <a:bodyPr wrap="square" lIns="0" tIns="0" rIns="0" bIns="0" rtlCol="0" anchor="t">
            <a:noAutofit/>
          </a:bodyPr>
          <a:lstStyle/>
          <a:p>
            <a:pPr algn="l">
              <a:spcBef>
                <a:spcPts val="0"/>
              </a:spcBef>
              <a:buNone/>
            </a:pPr>
            <a:r>
              <a:rPr lang="en-US" sz="1400" b="1" dirty="0">
                <a:solidFill>
                  <a:srgbClr val="2563EB"/>
                </a:solidFill>
              </a:rPr>
              <a:t>TEST FILE  ·  WHAT WE CHECK</a:t>
            </a:r>
          </a:p>
        </p:txBody>
      </p:sp>
      <p:sp>
        <p:nvSpPr>
          <p:cNvPr id="12" name="Shape 12"/>
          <p:cNvSpPr txBox="1"/>
          <p:nvPr/>
        </p:nvSpPr>
        <p:spPr>
          <a:xfrm>
            <a:off x="863600" y="1854200"/>
            <a:ext cx="4572000" cy="381000"/>
          </a:xfrm>
          <a:prstGeom prst="rect">
            <a:avLst/>
          </a:prstGeom>
          <a:noFill/>
          <a:ln>
            <a:noFill/>
          </a:ln>
        </p:spPr>
        <p:txBody>
          <a:bodyPr wrap="square" lIns="0" tIns="0" rIns="0" bIns="0" rtlCol="0" anchor="t">
            <a:noAutofit/>
          </a:bodyPr>
          <a:lstStyle/>
          <a:p>
            <a:pPr algn="l">
              <a:spcBef>
                <a:spcPts val="0"/>
              </a:spcBef>
              <a:buNone/>
            </a:pPr>
            <a:r>
              <a:rPr lang="en-US" sz="2000" b="0" dirty="0">
                <a:solidFill>
                  <a:srgbClr val="64748B"/>
                </a:solidFill>
                <a:latin typeface="Consolas"/>
                <a:cs typeface="Consolas"/>
              </a:rPr>
              <a:t>tests/</a:t>
            </a:r>
            <a:r>
              <a:rPr lang="en-US" sz="2000" b="1" dirty="0">
                <a:solidFill>
                  <a:srgbClr val="0B1B33"/>
                </a:solidFill>
                <a:latin typeface="Consolas"/>
                <a:cs typeface="Consolas"/>
              </a:rPr>
              <a:t>checkout.spec.ts</a:t>
            </a:r>
          </a:p>
        </p:txBody>
      </p:sp>
      <p:sp>
        <p:nvSpPr>
          <p:cNvPr id="13" name="Shape 13"/>
          <p:cNvSpPr txBox="1"/>
          <p:nvPr/>
        </p:nvSpPr>
        <p:spPr>
          <a:xfrm>
            <a:off x="863600" y="2311400"/>
            <a:ext cx="4572000" cy="1066800"/>
          </a:xfrm>
          <a:prstGeom prst="rect">
            <a:avLst/>
          </a:prstGeom>
          <a:noFill/>
          <a:ln>
            <a:noFill/>
          </a:ln>
        </p:spPr>
        <p:txBody>
          <a:bodyPr wrap="square" lIns="0" tIns="0" rIns="0" bIns="0" rtlCol="0" anchor="t">
            <a:noAutofit/>
          </a:bodyPr>
          <a:lstStyle/>
          <a:p>
            <a:pPr marL="285750" indent="-285750" algn="l">
              <a:spcBef>
                <a:spcPts val="200"/>
              </a:spcBef>
              <a:buClr>
                <a:srgbClr val="2563EB"/>
              </a:buClr>
              <a:buFont typeface="Arial"/>
              <a:buChar char="•"/>
            </a:pPr>
            <a:r>
              <a:rPr lang="en-US" sz="1600" b="0" dirty="0">
                <a:solidFill>
                  <a:srgbClr val="0B1B33"/>
                </a:solidFill>
              </a:rPr>
              <a:t>Test scenarios (test blocks)</a:t>
            </a:r>
          </a:p>
          <a:p>
            <a:pPr marL="285750" indent="-285750" algn="l">
              <a:spcBef>
                <a:spcPts val="200"/>
              </a:spcBef>
              <a:buClr>
                <a:srgbClr val="2563EB"/>
              </a:buClr>
              <a:buFont typeface="Arial"/>
              <a:buChar char="•"/>
            </a:pPr>
            <a:r>
              <a:rPr lang="en-US" sz="1600" b="0" dirty="0">
                <a:solidFill>
                  <a:srgbClr val="0B1B33"/>
                </a:solidFill>
              </a:rPr>
              <a:t>Assertions with expect()</a:t>
            </a:r>
          </a:p>
          <a:p>
            <a:pPr marL="285750" indent="-285750" algn="l">
              <a:spcBef>
                <a:spcPts val="200"/>
              </a:spcBef>
              <a:buClr>
                <a:srgbClr val="2563EB"/>
              </a:buClr>
              <a:buFont typeface="Arial"/>
              <a:buChar char="•"/>
            </a:pPr>
            <a:r>
              <a:rPr lang="en-US" sz="1600" b="0" dirty="0">
                <a:solidFill>
                  <a:srgbClr val="0B1B33"/>
                </a:solidFill>
              </a:rPr>
              <a:t>Expected results</a:t>
            </a:r>
          </a:p>
        </p:txBody>
      </p:sp>
      <p:sp>
        <p:nvSpPr>
          <p:cNvPr id="14" name="Shape 14"/>
          <p:cNvSpPr/>
          <p:nvPr/>
        </p:nvSpPr>
        <p:spPr>
          <a:xfrm>
            <a:off x="863600" y="3454400"/>
            <a:ext cx="4572000" cy="1320800"/>
          </a:xfrm>
          <a:prstGeom prst="roundRect">
            <a:avLst>
              <a:gd name="adj" fmla="val 6000"/>
            </a:avLst>
          </a:prstGeom>
          <a:solidFill>
            <a:srgbClr val="0B1B33"/>
          </a:solidFill>
          <a:ln>
            <a:noFill/>
          </a:ln>
        </p:spPr>
        <p:txBody>
          <a:bodyPr wrap="square" lIns="152400" tIns="127000" rIns="152400" bIns="127000" rtlCol="0" anchor="t">
            <a:noAutofit/>
          </a:bodyPr>
          <a:lstStyle/>
          <a:p>
            <a:pPr algn="l">
              <a:lnSpc>
                <a:spcPct val="110000"/>
              </a:lnSpc>
              <a:spcBef>
                <a:spcPts val="0"/>
              </a:spcBef>
              <a:buNone/>
            </a:pPr>
            <a:r>
              <a:rPr lang="en-US" sz="1400" b="0" dirty="0">
                <a:solidFill>
                  <a:srgbClr val="E2E8F0"/>
                </a:solidFill>
                <a:latin typeface="Consolas"/>
                <a:cs typeface="Consolas"/>
              </a:rPr>
              <a:t>await cartPage.checkout();</a:t>
            </a:r>
          </a:p>
          <a:p>
            <a:pPr algn="l">
              <a:lnSpc>
                <a:spcPct val="110000"/>
              </a:lnSpc>
              <a:spcBef>
                <a:spcPts val="0"/>
              </a:spcBef>
              <a:buNone/>
            </a:pPr>
            <a:r>
              <a:rPr lang="en-US" sz="1400" b="0" dirty="0">
                <a:solidFill>
                  <a:srgbClr val="E2E8F0"/>
                </a:solidFill>
                <a:latin typeface="Consolas"/>
                <a:cs typeface="Consolas"/>
              </a:rPr>
              <a:t>expect(total)</a:t>
            </a:r>
          </a:p>
          <a:p>
            <a:pPr algn="l">
              <a:lnSpc>
                <a:spcPct val="110000"/>
              </a:lnSpc>
              <a:spcBef>
                <a:spcPts val="0"/>
              </a:spcBef>
              <a:buNone/>
            </a:pPr>
            <a:r>
              <a:rPr lang="en-US" sz="1400" b="0" dirty="0">
                <a:solidFill>
                  <a:srgbClr val="E2E8F0"/>
                </a:solidFill>
                <a:latin typeface="Consolas"/>
                <a:cs typeface="Consolas"/>
              </a:rPr>
              <a:t>  .toBeCloseTo(subtotal + tax, 2);</a:t>
            </a:r>
          </a:p>
        </p:txBody>
      </p:sp>
      <p:sp>
        <p:nvSpPr>
          <p:cNvPr id="20" name="Shape 20"/>
          <p:cNvSpPr/>
          <p:nvPr/>
        </p:nvSpPr>
        <p:spPr>
          <a:xfrm>
            <a:off x="6502400" y="1371600"/>
            <a:ext cx="5080000" cy="3581400"/>
          </a:xfrm>
          <a:prstGeom prst="roundRect">
            <a:avLst>
              <a:gd name="adj" fmla="val 4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21" name="Shape 21"/>
          <p:cNvSpPr txBox="1"/>
          <p:nvPr/>
        </p:nvSpPr>
        <p:spPr>
          <a:xfrm>
            <a:off x="6756400" y="1549400"/>
            <a:ext cx="4572000" cy="279400"/>
          </a:xfrm>
          <a:prstGeom prst="rect">
            <a:avLst/>
          </a:prstGeom>
          <a:noFill/>
          <a:ln>
            <a:noFill/>
          </a:ln>
        </p:spPr>
        <p:txBody>
          <a:bodyPr wrap="square" lIns="0" tIns="0" rIns="0" bIns="0" rtlCol="0" anchor="t">
            <a:noAutofit/>
          </a:bodyPr>
          <a:lstStyle/>
          <a:p>
            <a:pPr algn="l">
              <a:spcBef>
                <a:spcPts val="0"/>
              </a:spcBef>
              <a:buNone/>
            </a:pPr>
            <a:r>
              <a:rPr lang="en-US" sz="1400" b="1" dirty="0">
                <a:solidFill>
                  <a:srgbClr val="64748B"/>
                </a:solidFill>
              </a:rPr>
              <a:t>PAGE OBJECT  ·  HOW WE INTERACT</a:t>
            </a:r>
          </a:p>
        </p:txBody>
      </p:sp>
      <p:sp>
        <p:nvSpPr>
          <p:cNvPr id="22" name="Shape 22"/>
          <p:cNvSpPr txBox="1"/>
          <p:nvPr/>
        </p:nvSpPr>
        <p:spPr>
          <a:xfrm>
            <a:off x="6756400" y="1854200"/>
            <a:ext cx="4572000" cy="381000"/>
          </a:xfrm>
          <a:prstGeom prst="rect">
            <a:avLst/>
          </a:prstGeom>
          <a:noFill/>
          <a:ln>
            <a:noFill/>
          </a:ln>
        </p:spPr>
        <p:txBody>
          <a:bodyPr wrap="square" lIns="0" tIns="0" rIns="0" bIns="0" rtlCol="0" anchor="t">
            <a:noAutofit/>
          </a:bodyPr>
          <a:lstStyle/>
          <a:p>
            <a:pPr algn="l">
              <a:spcBef>
                <a:spcPts val="0"/>
              </a:spcBef>
              <a:buNone/>
            </a:pPr>
            <a:r>
              <a:rPr lang="en-US" sz="2000" b="0" dirty="0">
                <a:solidFill>
                  <a:srgbClr val="64748B"/>
                </a:solidFill>
                <a:latin typeface="Consolas"/>
                <a:cs typeface="Consolas"/>
              </a:rPr>
              <a:t>pages/</a:t>
            </a:r>
            <a:r>
              <a:rPr lang="en-US" sz="2000" b="1" dirty="0">
                <a:solidFill>
                  <a:srgbClr val="0B1B33"/>
                </a:solidFill>
                <a:latin typeface="Consolas"/>
                <a:cs typeface="Consolas"/>
              </a:rPr>
              <a:t>CheckoutPage.ts</a:t>
            </a:r>
          </a:p>
        </p:txBody>
      </p:sp>
      <p:sp>
        <p:nvSpPr>
          <p:cNvPr id="23" name="Shape 23"/>
          <p:cNvSpPr txBox="1"/>
          <p:nvPr/>
        </p:nvSpPr>
        <p:spPr>
          <a:xfrm>
            <a:off x="6756400" y="2311400"/>
            <a:ext cx="4572000" cy="1066800"/>
          </a:xfrm>
          <a:prstGeom prst="rect">
            <a:avLst/>
          </a:prstGeom>
          <a:noFill/>
          <a:ln>
            <a:noFill/>
          </a:ln>
        </p:spPr>
        <p:txBody>
          <a:bodyPr wrap="square" lIns="0" tIns="0" rIns="0" bIns="0" rtlCol="0" anchor="t">
            <a:noAutofit/>
          </a:bodyPr>
          <a:lstStyle/>
          <a:p>
            <a:pPr marL="285750" indent="-285750" algn="l">
              <a:spcBef>
                <a:spcPts val="200"/>
              </a:spcBef>
              <a:buClr>
                <a:srgbClr val="2563EB"/>
              </a:buClr>
              <a:buFont typeface="Arial"/>
              <a:buChar char="•"/>
            </a:pPr>
            <a:r>
              <a:rPr lang="en-US" sz="1600" b="0" dirty="0">
                <a:solidFill>
                  <a:srgbClr val="0B1B33"/>
                </a:solidFill>
              </a:rPr>
              <a:t>Page locators</a:t>
            </a:r>
          </a:p>
          <a:p>
            <a:pPr marL="285750" indent="-285750" algn="l">
              <a:spcBef>
                <a:spcPts val="200"/>
              </a:spcBef>
              <a:buClr>
                <a:srgbClr val="2563EB"/>
              </a:buClr>
              <a:buFont typeface="Arial"/>
              <a:buChar char="•"/>
            </a:pPr>
            <a:r>
              <a:rPr lang="en-US" sz="1600" b="0" dirty="0">
                <a:solidFill>
                  <a:srgbClr val="0B1B33"/>
                </a:solidFill>
              </a:rPr>
              <a:t>Reusable page methods</a:t>
            </a:r>
          </a:p>
          <a:p>
            <a:pPr marL="285750" indent="-285750" algn="l">
              <a:spcBef>
                <a:spcPts val="200"/>
              </a:spcBef>
              <a:buClr>
                <a:srgbClr val="2563EB"/>
              </a:buClr>
              <a:buFont typeface="Arial"/>
              <a:buChar char="•"/>
            </a:pPr>
            <a:r>
              <a:rPr lang="en-US" sz="1600" b="0" dirty="0">
                <a:solidFill>
                  <a:srgbClr val="0B1B33"/>
                </a:solidFill>
              </a:rPr>
              <a:t>No expected results here</a:t>
            </a:r>
          </a:p>
        </p:txBody>
      </p:sp>
      <p:sp>
        <p:nvSpPr>
          <p:cNvPr id="24" name="Shape 24"/>
          <p:cNvSpPr/>
          <p:nvPr/>
        </p:nvSpPr>
        <p:spPr>
          <a:xfrm>
            <a:off x="6756400" y="3454400"/>
            <a:ext cx="4572000" cy="1320800"/>
          </a:xfrm>
          <a:prstGeom prst="roundRect">
            <a:avLst>
              <a:gd name="adj" fmla="val 6000"/>
            </a:avLst>
          </a:prstGeom>
          <a:solidFill>
            <a:srgbClr val="0B1B33"/>
          </a:solidFill>
          <a:ln>
            <a:noFill/>
          </a:ln>
        </p:spPr>
        <p:txBody>
          <a:bodyPr wrap="square" lIns="152400" tIns="127000" rIns="152400" bIns="127000" rtlCol="0" anchor="t">
            <a:noAutofit/>
          </a:bodyPr>
          <a:lstStyle/>
          <a:p>
            <a:pPr algn="l">
              <a:lnSpc>
                <a:spcPct val="110000"/>
              </a:lnSpc>
              <a:spcBef>
                <a:spcPts val="0"/>
              </a:spcBef>
              <a:buNone/>
            </a:pPr>
            <a:r>
              <a:rPr lang="en-US" sz="1400" b="0" dirty="0">
                <a:solidFill>
                  <a:srgbClr val="E2E8F0"/>
                </a:solidFill>
                <a:latin typeface="Consolas"/>
                <a:cs typeface="Consolas"/>
              </a:rPr>
              <a:t>postalCode = page.getByLabel('Zip');</a:t>
            </a:r>
          </a:p>
          <a:p>
            <a:pPr algn="l">
              <a:lnSpc>
                <a:spcPct val="110000"/>
              </a:lnSpc>
              <a:spcBef>
                <a:spcPts val="0"/>
              </a:spcBef>
              <a:buNone/>
            </a:pPr>
            <a:r>
              <a:rPr lang="en-US" sz="1400" b="0" dirty="0">
                <a:solidFill>
                  <a:srgbClr val="E2E8F0"/>
                </a:solidFill>
                <a:latin typeface="Consolas"/>
                <a:cs typeface="Consolas"/>
              </a:rPr>
              <a:t>async fillInfo(first, last, zip) {</a:t>
            </a:r>
          </a:p>
          <a:p>
            <a:pPr algn="l">
              <a:lnSpc>
                <a:spcPct val="110000"/>
              </a:lnSpc>
              <a:spcBef>
                <a:spcPts val="0"/>
              </a:spcBef>
              <a:buNone/>
            </a:pPr>
            <a:r>
              <a:rPr lang="en-US" sz="1400" b="0" dirty="0">
                <a:solidFill>
                  <a:srgbClr val="E2E8F0"/>
                </a:solidFill>
                <a:latin typeface="Consolas"/>
                <a:cs typeface="Consolas"/>
              </a:rPr>
              <a:t>  await this.postalCode.fill(zip);</a:t>
            </a:r>
          </a:p>
          <a:p>
            <a:pPr algn="l">
              <a:lnSpc>
                <a:spcPct val="110000"/>
              </a:lnSpc>
              <a:spcBef>
                <a:spcPts val="0"/>
              </a:spcBef>
              <a:buNone/>
            </a:pPr>
            <a:r>
              <a:rPr lang="en-US" sz="1400" b="0" dirty="0">
                <a:solidFill>
                  <a:srgbClr val="E2E8F0"/>
                </a:solidFill>
                <a:latin typeface="Consolas"/>
                <a:cs typeface="Consolas"/>
              </a:rPr>
              <a:t>}</a:t>
            </a:r>
          </a:p>
        </p:txBody>
      </p:sp>
      <p:sp>
        <p:nvSpPr>
          <p:cNvPr id="40" name="Shape 40"/>
          <p:cNvSpPr txBox="1"/>
          <p:nvPr/>
        </p:nvSpPr>
        <p:spPr>
          <a:xfrm>
            <a:off x="5765800" y="2667000"/>
            <a:ext cx="660400" cy="330200"/>
          </a:xfrm>
          <a:prstGeom prst="rect">
            <a:avLst/>
          </a:prstGeom>
          <a:noFill/>
          <a:ln>
            <a:noFill/>
          </a:ln>
        </p:spPr>
        <p:txBody>
          <a:bodyPr wrap="square" lIns="0" tIns="0" rIns="0" bIns="0" rtlCol="0" anchor="t">
            <a:noAutofit/>
          </a:bodyPr>
          <a:lstStyle/>
          <a:p>
            <a:pPr algn="ctr">
              <a:spcBef>
                <a:spcPts val="0"/>
              </a:spcBef>
              <a:buNone/>
            </a:pPr>
            <a:r>
              <a:rPr lang="en-US" sz="1400" b="1" dirty="0">
                <a:solidFill>
                  <a:srgbClr val="2563EB"/>
                </a:solidFill>
              </a:rPr>
              <a:t>uses</a:t>
            </a:r>
          </a:p>
        </p:txBody>
      </p:sp>
      <p:sp>
        <p:nvSpPr>
          <p:cNvPr id="41" name="Shape 41"/>
          <p:cNvSpPr/>
          <p:nvPr/>
        </p:nvSpPr>
        <p:spPr>
          <a:xfrm>
            <a:off x="5791200" y="3022600"/>
            <a:ext cx="609600" cy="304800"/>
          </a:xfrm>
          <a:prstGeom prst="rightArrow">
            <a:avLst/>
          </a:prstGeom>
          <a:solidFill>
            <a:srgbClr val="2563EB"/>
          </a:solidFill>
          <a:ln>
            <a:noFill/>
          </a:ln>
        </p:spPr>
        <p:txBody>
          <a:bodyPr wrap="square" lIns="0" tIns="0" rIns="0" bIns="0" rtlCol="0" anchor="t">
            <a:noAutofit/>
          </a:bodyPr>
          <a:lstStyle/>
          <a:p>
            <a:endParaRPr lang="en-US" dirty="0"/>
          </a:p>
        </p:txBody>
      </p:sp>
      <p:sp>
        <p:nvSpPr>
          <p:cNvPr id="42" name="Shape 42"/>
          <p:cNvSpPr/>
          <p:nvPr/>
        </p:nvSpPr>
        <p:spPr>
          <a:xfrm>
            <a:off x="609600" y="5130800"/>
            <a:ext cx="10972800" cy="660400"/>
          </a:xfrm>
          <a:prstGeom prst="rect">
            <a:avLst/>
          </a:prstGeom>
          <a:solidFill>
            <a:srgbClr val="DBEAFE"/>
          </a:solidFill>
          <a:ln>
            <a:noFill/>
          </a:ln>
        </p:spPr>
        <p:txBody>
          <a:bodyPr wrap="square" lIns="203200" tIns="76200" rIns="203200" bIns="76200" rtlCol="0" anchor="ctr">
            <a:noAutofit/>
          </a:bodyPr>
          <a:lstStyle/>
          <a:p>
            <a:pPr algn="l">
              <a:spcBef>
                <a:spcPts val="0"/>
              </a:spcBef>
              <a:buNone/>
            </a:pPr>
            <a:r>
              <a:rPr lang="en-US" sz="1600" b="1" dirty="0">
                <a:solidFill>
                  <a:srgbClr val="0B1B33"/>
                </a:solidFill>
              </a:rPr>
              <a:t>We start with the test file. </a:t>
            </a:r>
            <a:r>
              <a:rPr lang="en-US" sz="1600" b="0" dirty="0">
                <a:solidFill>
                  <a:srgbClr val="0B1B33"/>
                </a:solidFill>
              </a:rPr>
              <a:t>It holds the expected results, so gaps in coverage show up there first.</a:t>
            </a:r>
          </a:p>
        </p:txBody>
      </p:sp>
      <p:sp>
        <p:nvSpPr>
          <p:cNvPr id="43" name="Shape 43"/>
          <p:cNvSpPr/>
          <p:nvPr/>
        </p:nvSpPr>
        <p:spPr>
          <a:xfrm>
            <a:off x="609600" y="5130800"/>
            <a:ext cx="63500" cy="660400"/>
          </a:xfrm>
          <a:prstGeom prst="rect">
            <a:avLst/>
          </a:prstGeom>
          <a:solidFill>
            <a:srgbClr val="2563EB"/>
          </a:solidFill>
          <a:ln>
            <a:noFill/>
          </a:ln>
        </p:spPr>
        <p:txBody>
          <a:bodyPr wrap="square" lIns="0" tIns="0" rIns="0" bIns="0" rtlCol="0" anchor="t">
            <a:noAutofit/>
          </a:bodyPr>
          <a:lstStyle/>
          <a:p>
            <a:endParaRPr lang="en-US" dirty="0"/>
          </a:p>
        </p:txBody>
      </p:sp>
      <p:sp>
        <p:nvSpPr>
          <p:cNvPr id="44" name="Shape 44"/>
          <p:cNvSpPr txBox="1"/>
          <p:nvPr/>
        </p:nvSpPr>
        <p:spPr>
          <a:xfrm>
            <a:off x="609600" y="5969000"/>
            <a:ext cx="10972800" cy="279400"/>
          </a:xfrm>
          <a:prstGeom prst="rect">
            <a:avLst/>
          </a:prstGeom>
          <a:noFill/>
          <a:ln>
            <a:noFill/>
          </a:ln>
        </p:spPr>
        <p:txBody>
          <a:bodyPr wrap="square" lIns="0" tIns="0" rIns="0" bIns="0" rtlCol="0" anchor="t">
            <a:noAutofit/>
          </a:bodyPr>
          <a:lstStyle/>
          <a:p>
            <a:pPr algn="l">
              <a:spcBef>
                <a:spcPts val="0"/>
              </a:spcBef>
              <a:buNone/>
            </a:pPr>
            <a:r>
              <a:rPr lang="en-US" sz="1100" b="0" dirty="0">
                <a:solidFill>
                  <a:srgbClr val="64748B"/>
                </a:solidFill>
              </a:rPr>
              <a:t>Left: code from our checkout.spec.ts. Right: illustrative page object code.</a:t>
            </a:r>
          </a:p>
        </p:txBody>
      </p:sp>
    </p:spTree>
    <p:extLst>
      <p:ext uri="{BB962C8B-B14F-4D97-AF65-F5344CB8AC3E}">
        <p14:creationId xmlns:p14="http://schemas.microsoft.com/office/powerpoint/2010/main" val="1799981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D877E-9683-C3EF-D07E-4D44BAC61536}"/>
              </a:ext>
            </a:extLst>
          </p:cNvPr>
          <p:cNvSpPr>
            <a:spLocks noGrp="1"/>
          </p:cNvSpPr>
          <p:nvPr>
            <p:ph type="title"/>
          </p:nvPr>
        </p:nvSpPr>
        <p:spPr>
          <a:xfrm>
            <a:off x="609600" y="304800"/>
            <a:ext cx="10972800" cy="914400"/>
          </a:xfrm>
        </p:spPr>
        <p:txBody>
          <a:bodyPr/>
          <a:lstStyle/>
          <a:p>
            <a:pPr algn="l">
              <a:spcBef>
                <a:spcPts val="0"/>
              </a:spcBef>
              <a:buNone/>
            </a:pPr>
            <a:r>
              <a:rPr lang="en-US" sz="3200" b="1" dirty="0">
                <a:solidFill>
                  <a:srgbClr val="0B1B33"/>
                </a:solidFill>
              </a:rPr>
              <a:t>Open GitHub Copilot Chat</a:t>
            </a:r>
          </a:p>
        </p:txBody>
      </p:sp>
      <p:sp>
        <p:nvSpPr>
          <p:cNvPr id="10" name="Shape 10"/>
          <p:cNvSpPr txBox="1"/>
          <p:nvPr/>
        </p:nvSpPr>
        <p:spPr>
          <a:xfrm>
            <a:off x="609600" y="1371600"/>
            <a:ext cx="5080000" cy="304800"/>
          </a:xfrm>
          <a:prstGeom prst="rect">
            <a:avLst/>
          </a:prstGeom>
          <a:noFill/>
          <a:ln>
            <a:noFill/>
          </a:ln>
        </p:spPr>
        <p:txBody>
          <a:bodyPr wrap="square" lIns="0" tIns="0" rIns="0" bIns="0" rtlCol="0" anchor="t">
            <a:noAutofit/>
          </a:bodyPr>
          <a:lstStyle/>
          <a:p>
            <a:pPr algn="l">
              <a:spcBef>
                <a:spcPts val="0"/>
              </a:spcBef>
              <a:buNone/>
            </a:pPr>
            <a:r>
              <a:rPr lang="en-US" sz="1400" b="1" dirty="0">
                <a:solidFill>
                  <a:srgbClr val="64748B"/>
                </a:solidFill>
              </a:rPr>
              <a:t>HOW TO OPEN IT</a:t>
            </a:r>
          </a:p>
        </p:txBody>
      </p:sp>
      <p:sp>
        <p:nvSpPr>
          <p:cNvPr id="20" name="Shape 20"/>
          <p:cNvSpPr/>
          <p:nvPr/>
        </p:nvSpPr>
        <p:spPr>
          <a:xfrm>
            <a:off x="609600" y="1778000"/>
            <a:ext cx="508000" cy="508000"/>
          </a:xfrm>
          <a:prstGeom prst="ellipse">
            <a:avLst/>
          </a:prstGeom>
          <a:solidFill>
            <a:srgbClr val="2563EB"/>
          </a:solidFill>
          <a:ln>
            <a:noFill/>
          </a:ln>
        </p:spPr>
        <p:txBody>
          <a:bodyPr wrap="square" lIns="0" tIns="0" rIns="0" bIns="0" rtlCol="0" anchor="ctr">
            <a:noAutofit/>
          </a:bodyPr>
          <a:lstStyle/>
          <a:p>
            <a:pPr algn="ctr">
              <a:spcBef>
                <a:spcPts val="0"/>
              </a:spcBef>
              <a:buNone/>
            </a:pPr>
            <a:r>
              <a:rPr lang="en-US" sz="1800" b="1" dirty="0">
                <a:solidFill>
                  <a:srgbClr val="FFFFFF"/>
                </a:solidFill>
              </a:rPr>
              <a:t>1</a:t>
            </a:r>
          </a:p>
        </p:txBody>
      </p:sp>
      <p:sp>
        <p:nvSpPr>
          <p:cNvPr id="30" name="Shape 30"/>
          <p:cNvSpPr txBox="1"/>
          <p:nvPr/>
        </p:nvSpPr>
        <p:spPr>
          <a:xfrm>
            <a:off x="1270000" y="1752600"/>
            <a:ext cx="4419600" cy="1016000"/>
          </a:xfrm>
          <a:prstGeom prst="rect">
            <a:avLst/>
          </a:prstGeom>
          <a:noFill/>
          <a:ln>
            <a:noFill/>
          </a:ln>
        </p:spPr>
        <p:txBody>
          <a:bodyPr wrap="square" lIns="0" tIns="0" rIns="0" bIns="0" rtlCol="0" anchor="t">
            <a:noAutofit/>
          </a:bodyPr>
          <a:lstStyle/>
          <a:p>
            <a:pPr algn="l">
              <a:spcBef>
                <a:spcPts val="0"/>
              </a:spcBef>
              <a:buNone/>
            </a:pPr>
            <a:r>
              <a:rPr lang="en-US" sz="1800" b="1" dirty="0">
                <a:solidFill>
                  <a:srgbClr val="0B1B33"/>
                </a:solidFill>
              </a:rPr>
              <a:t>Open checkout.spec.ts</a:t>
            </a:r>
          </a:p>
          <a:p>
            <a:pPr algn="l">
              <a:spcBef>
                <a:spcPts val="300"/>
              </a:spcBef>
              <a:buNone/>
            </a:pPr>
            <a:r>
              <a:rPr lang="en-US" sz="1500" b="0" dirty="0">
                <a:solidFill>
                  <a:srgbClr val="475569"/>
                </a:solidFill>
              </a:rPr>
              <a:t>in the VS Code editor</a:t>
            </a:r>
          </a:p>
        </p:txBody>
      </p:sp>
      <p:sp>
        <p:nvSpPr>
          <p:cNvPr id="25" name="Shape 25"/>
          <p:cNvSpPr/>
          <p:nvPr/>
        </p:nvSpPr>
        <p:spPr>
          <a:xfrm>
            <a:off x="850900" y="2362200"/>
            <a:ext cx="25400" cy="558800"/>
          </a:xfrm>
          <a:prstGeom prst="rect">
            <a:avLst/>
          </a:prstGeom>
          <a:solidFill>
            <a:srgbClr val="BFD3F5"/>
          </a:solidFill>
          <a:ln>
            <a:noFill/>
          </a:ln>
        </p:spPr>
        <p:txBody>
          <a:bodyPr wrap="square" lIns="0" tIns="0" rIns="0" bIns="0" rtlCol="0" anchor="t">
            <a:noAutofit/>
          </a:bodyPr>
          <a:lstStyle/>
          <a:p>
            <a:endParaRPr lang="en-US" dirty="0"/>
          </a:p>
        </p:txBody>
      </p:sp>
      <p:sp>
        <p:nvSpPr>
          <p:cNvPr id="21" name="Shape 21"/>
          <p:cNvSpPr/>
          <p:nvPr/>
        </p:nvSpPr>
        <p:spPr>
          <a:xfrm>
            <a:off x="609600" y="2997200"/>
            <a:ext cx="508000" cy="508000"/>
          </a:xfrm>
          <a:prstGeom prst="ellipse">
            <a:avLst/>
          </a:prstGeom>
          <a:solidFill>
            <a:srgbClr val="2563EB"/>
          </a:solidFill>
          <a:ln>
            <a:noFill/>
          </a:ln>
        </p:spPr>
        <p:txBody>
          <a:bodyPr wrap="square" lIns="0" tIns="0" rIns="0" bIns="0" rtlCol="0" anchor="ctr">
            <a:noAutofit/>
          </a:bodyPr>
          <a:lstStyle/>
          <a:p>
            <a:pPr algn="ctr">
              <a:spcBef>
                <a:spcPts val="0"/>
              </a:spcBef>
              <a:buNone/>
            </a:pPr>
            <a:r>
              <a:rPr lang="en-US" sz="1800" b="1" dirty="0">
                <a:solidFill>
                  <a:srgbClr val="FFFFFF"/>
                </a:solidFill>
              </a:rPr>
              <a:t>2</a:t>
            </a:r>
          </a:p>
        </p:txBody>
      </p:sp>
      <p:sp>
        <p:nvSpPr>
          <p:cNvPr id="31" name="Shape 31"/>
          <p:cNvSpPr txBox="1"/>
          <p:nvPr/>
        </p:nvSpPr>
        <p:spPr>
          <a:xfrm>
            <a:off x="1270000" y="2971800"/>
            <a:ext cx="4419600" cy="1016000"/>
          </a:xfrm>
          <a:prstGeom prst="rect">
            <a:avLst/>
          </a:prstGeom>
          <a:noFill/>
          <a:ln>
            <a:noFill/>
          </a:ln>
        </p:spPr>
        <p:txBody>
          <a:bodyPr wrap="square" lIns="0" tIns="0" rIns="0" bIns="0" rtlCol="0" anchor="t">
            <a:noAutofit/>
          </a:bodyPr>
          <a:lstStyle/>
          <a:p>
            <a:pPr algn="l">
              <a:spcBef>
                <a:spcPts val="0"/>
              </a:spcBef>
              <a:buNone/>
            </a:pPr>
            <a:r>
              <a:rPr lang="en-US" sz="1800" b="1" dirty="0">
                <a:solidFill>
                  <a:srgbClr val="0B1B33"/>
                </a:solidFill>
              </a:rPr>
              <a:t>Open the Chat view</a:t>
            </a:r>
          </a:p>
          <a:p>
            <a:pPr algn="l">
              <a:spcBef>
                <a:spcPts val="300"/>
              </a:spcBef>
              <a:buNone/>
            </a:pPr>
            <a:r>
              <a:rPr lang="en-US" sz="1500" b="0" dirty="0">
                <a:solidFill>
                  <a:srgbClr val="475569"/>
                </a:solidFill>
              </a:rPr>
              <a:t>Ctrl+Alt+I  (Mac: Ctrl+Cmd+I) or the chat icon</a:t>
            </a:r>
          </a:p>
        </p:txBody>
      </p:sp>
      <p:sp>
        <p:nvSpPr>
          <p:cNvPr id="26" name="Shape 26"/>
          <p:cNvSpPr/>
          <p:nvPr/>
        </p:nvSpPr>
        <p:spPr>
          <a:xfrm>
            <a:off x="850900" y="3581400"/>
            <a:ext cx="25400" cy="558800"/>
          </a:xfrm>
          <a:prstGeom prst="rect">
            <a:avLst/>
          </a:prstGeom>
          <a:solidFill>
            <a:srgbClr val="BFD3F5"/>
          </a:solidFill>
          <a:ln>
            <a:noFill/>
          </a:ln>
        </p:spPr>
        <p:txBody>
          <a:bodyPr wrap="square" lIns="0" tIns="0" rIns="0" bIns="0" rtlCol="0" anchor="t">
            <a:noAutofit/>
          </a:bodyPr>
          <a:lstStyle/>
          <a:p>
            <a:endParaRPr lang="en-US" dirty="0"/>
          </a:p>
        </p:txBody>
      </p:sp>
      <p:sp>
        <p:nvSpPr>
          <p:cNvPr id="22" name="Shape 22"/>
          <p:cNvSpPr/>
          <p:nvPr/>
        </p:nvSpPr>
        <p:spPr>
          <a:xfrm>
            <a:off x="609600" y="4216400"/>
            <a:ext cx="508000" cy="508000"/>
          </a:xfrm>
          <a:prstGeom prst="ellipse">
            <a:avLst/>
          </a:prstGeom>
          <a:solidFill>
            <a:srgbClr val="2563EB"/>
          </a:solidFill>
          <a:ln>
            <a:noFill/>
          </a:ln>
        </p:spPr>
        <p:txBody>
          <a:bodyPr wrap="square" lIns="0" tIns="0" rIns="0" bIns="0" rtlCol="0" anchor="ctr">
            <a:noAutofit/>
          </a:bodyPr>
          <a:lstStyle/>
          <a:p>
            <a:pPr algn="ctr">
              <a:spcBef>
                <a:spcPts val="0"/>
              </a:spcBef>
              <a:buNone/>
            </a:pPr>
            <a:r>
              <a:rPr lang="en-US" sz="1800" b="1" dirty="0">
                <a:solidFill>
                  <a:srgbClr val="FFFFFF"/>
                </a:solidFill>
              </a:rPr>
              <a:t>3</a:t>
            </a:r>
          </a:p>
        </p:txBody>
      </p:sp>
      <p:sp>
        <p:nvSpPr>
          <p:cNvPr id="32" name="Shape 32"/>
          <p:cNvSpPr txBox="1"/>
          <p:nvPr/>
        </p:nvSpPr>
        <p:spPr>
          <a:xfrm>
            <a:off x="1270000" y="4191000"/>
            <a:ext cx="4419600" cy="1016000"/>
          </a:xfrm>
          <a:prstGeom prst="rect">
            <a:avLst/>
          </a:prstGeom>
          <a:noFill/>
          <a:ln>
            <a:noFill/>
          </a:ln>
        </p:spPr>
        <p:txBody>
          <a:bodyPr wrap="square" lIns="0" tIns="0" rIns="0" bIns="0" rtlCol="0" anchor="t">
            <a:noAutofit/>
          </a:bodyPr>
          <a:lstStyle/>
          <a:p>
            <a:pPr algn="l">
              <a:spcBef>
                <a:spcPts val="0"/>
              </a:spcBef>
              <a:buNone/>
            </a:pPr>
            <a:r>
              <a:rPr lang="en-US" sz="1800" b="1" dirty="0">
                <a:solidFill>
                  <a:srgbClr val="0B1B33"/>
                </a:solidFill>
              </a:rPr>
              <a:t>Add the test file as context</a:t>
            </a:r>
          </a:p>
          <a:p>
            <a:pPr algn="l">
              <a:spcBef>
                <a:spcPts val="300"/>
              </a:spcBef>
              <a:buNone/>
            </a:pPr>
            <a:r>
              <a:rPr lang="en-US" sz="1500" b="0" dirty="0">
                <a:solidFill>
                  <a:srgbClr val="475569"/>
                </a:solidFill>
              </a:rPr>
              <a:t>Keep it open, or use Add Context</a:t>
            </a:r>
          </a:p>
        </p:txBody>
      </p:sp>
      <p:sp>
        <p:nvSpPr>
          <p:cNvPr id="11" name="Shape 11"/>
          <p:cNvSpPr txBox="1"/>
          <p:nvPr/>
        </p:nvSpPr>
        <p:spPr>
          <a:xfrm>
            <a:off x="6096000" y="1371600"/>
            <a:ext cx="5486400" cy="304800"/>
          </a:xfrm>
          <a:prstGeom prst="rect">
            <a:avLst/>
          </a:prstGeom>
          <a:noFill/>
          <a:ln>
            <a:noFill/>
          </a:ln>
        </p:spPr>
        <p:txBody>
          <a:bodyPr wrap="square" lIns="0" tIns="0" rIns="0" bIns="0" rtlCol="0" anchor="t">
            <a:noAutofit/>
          </a:bodyPr>
          <a:lstStyle/>
          <a:p>
            <a:pPr algn="l">
              <a:spcBef>
                <a:spcPts val="0"/>
              </a:spcBef>
              <a:buNone/>
            </a:pPr>
            <a:r>
              <a:rPr lang="en-US" sz="1400" b="1" dirty="0">
                <a:solidFill>
                  <a:srgbClr val="64748B"/>
                </a:solidFill>
              </a:rPr>
              <a:t>CHAT MODES (MAY VARY BY VERSION)</a:t>
            </a:r>
          </a:p>
        </p:txBody>
      </p:sp>
      <p:sp>
        <p:nvSpPr>
          <p:cNvPr id="40" name="Shape 40"/>
          <p:cNvSpPr/>
          <p:nvPr/>
        </p:nvSpPr>
        <p:spPr>
          <a:xfrm>
            <a:off x="6096000" y="1778000"/>
            <a:ext cx="5486400" cy="1041400"/>
          </a:xfrm>
          <a:prstGeom prst="roundRect">
            <a:avLst>
              <a:gd name="adj" fmla="val 8000"/>
            </a:avLst>
          </a:prstGeom>
          <a:solidFill>
            <a:srgbClr val="FFFFFF"/>
          </a:solidFill>
          <a:ln w="25400">
            <a:solidFill>
              <a:srgbClr val="2563EB"/>
            </a:solidFill>
          </a:ln>
        </p:spPr>
        <p:txBody>
          <a:bodyPr wrap="square" lIns="127000" tIns="76200" rIns="127000" bIns="76200" rtlCol="0" anchor="t">
            <a:noAutofit/>
          </a:bodyPr>
          <a:lstStyle/>
          <a:p>
            <a:endParaRPr lang="en-US" dirty="0"/>
          </a:p>
        </p:txBody>
      </p:sp>
      <p:sp>
        <p:nvSpPr>
          <p:cNvPr id="50" name="Shape 50"/>
          <p:cNvSpPr txBox="1"/>
          <p:nvPr/>
        </p:nvSpPr>
        <p:spPr>
          <a:xfrm>
            <a:off x="6350000" y="1930400"/>
            <a:ext cx="3556000" cy="762000"/>
          </a:xfrm>
          <a:prstGeom prst="rect">
            <a:avLst/>
          </a:prstGeom>
          <a:noFill/>
          <a:ln>
            <a:noFill/>
          </a:ln>
        </p:spPr>
        <p:txBody>
          <a:bodyPr wrap="square" lIns="0" tIns="0" rIns="0" bIns="0" rtlCol="0" anchor="ctr">
            <a:noAutofit/>
          </a:bodyPr>
          <a:lstStyle/>
          <a:p>
            <a:pPr algn="l">
              <a:spcBef>
                <a:spcPts val="0"/>
              </a:spcBef>
              <a:buNone/>
            </a:pPr>
            <a:r>
              <a:rPr lang="en-US" sz="2000" b="1" dirty="0">
                <a:solidFill>
                  <a:srgbClr val="2563EB"/>
                </a:solidFill>
              </a:rPr>
              <a:t>Ask</a:t>
            </a:r>
          </a:p>
          <a:p>
            <a:pPr algn="l">
              <a:spcBef>
                <a:spcPts val="200"/>
              </a:spcBef>
              <a:buNone/>
            </a:pPr>
            <a:r>
              <a:rPr lang="en-US" sz="1500" b="0" dirty="0">
                <a:solidFill>
                  <a:srgbClr val="475569"/>
                </a:solidFill>
              </a:rPr>
              <a:t>Ask questions and get explanations</a:t>
            </a:r>
          </a:p>
        </p:txBody>
      </p:sp>
      <p:sp>
        <p:nvSpPr>
          <p:cNvPr id="41" name="Shape 41"/>
          <p:cNvSpPr/>
          <p:nvPr/>
        </p:nvSpPr>
        <p:spPr>
          <a:xfrm>
            <a:off x="6096000" y="2997200"/>
            <a:ext cx="5486400" cy="1041400"/>
          </a:xfrm>
          <a:prstGeom prst="roundRect">
            <a:avLst>
              <a:gd name="adj" fmla="val 8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51" name="Shape 51"/>
          <p:cNvSpPr txBox="1"/>
          <p:nvPr/>
        </p:nvSpPr>
        <p:spPr>
          <a:xfrm>
            <a:off x="6350000" y="3149600"/>
            <a:ext cx="3810000" cy="762000"/>
          </a:xfrm>
          <a:prstGeom prst="rect">
            <a:avLst/>
          </a:prstGeom>
          <a:noFill/>
          <a:ln>
            <a:noFill/>
          </a:ln>
        </p:spPr>
        <p:txBody>
          <a:bodyPr wrap="square" lIns="0" tIns="0" rIns="0" bIns="0" rtlCol="0" anchor="ctr">
            <a:noAutofit/>
          </a:bodyPr>
          <a:lstStyle/>
          <a:p>
            <a:pPr algn="l">
              <a:spcBef>
                <a:spcPts val="0"/>
              </a:spcBef>
              <a:buNone/>
            </a:pPr>
            <a:r>
              <a:rPr lang="en-US" sz="2000" b="1" dirty="0">
                <a:solidFill>
                  <a:srgbClr val="0B1B33"/>
                </a:solidFill>
              </a:rPr>
              <a:t>Plan</a:t>
            </a:r>
          </a:p>
          <a:p>
            <a:pPr algn="l">
              <a:spcBef>
                <a:spcPts val="200"/>
              </a:spcBef>
              <a:buNone/>
            </a:pPr>
            <a:r>
              <a:rPr lang="en-US" sz="1500" b="0" dirty="0">
                <a:solidFill>
                  <a:srgbClr val="475569"/>
                </a:solidFill>
              </a:rPr>
              <a:t>Plan an approach before implementation</a:t>
            </a:r>
          </a:p>
        </p:txBody>
      </p:sp>
      <p:sp>
        <p:nvSpPr>
          <p:cNvPr id="42" name="Shape 42"/>
          <p:cNvSpPr/>
          <p:nvPr/>
        </p:nvSpPr>
        <p:spPr>
          <a:xfrm>
            <a:off x="6096000" y="4216400"/>
            <a:ext cx="5486400" cy="1041400"/>
          </a:xfrm>
          <a:prstGeom prst="roundRect">
            <a:avLst>
              <a:gd name="adj" fmla="val 8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52" name="Shape 52"/>
          <p:cNvSpPr txBox="1"/>
          <p:nvPr/>
        </p:nvSpPr>
        <p:spPr>
          <a:xfrm>
            <a:off x="6350000" y="4368800"/>
            <a:ext cx="3810000" cy="762000"/>
          </a:xfrm>
          <a:prstGeom prst="rect">
            <a:avLst/>
          </a:prstGeom>
          <a:noFill/>
          <a:ln>
            <a:noFill/>
          </a:ln>
        </p:spPr>
        <p:txBody>
          <a:bodyPr wrap="square" lIns="0" tIns="0" rIns="0" bIns="0" rtlCol="0" anchor="ctr">
            <a:noAutofit/>
          </a:bodyPr>
          <a:lstStyle/>
          <a:p>
            <a:pPr algn="l">
              <a:spcBef>
                <a:spcPts val="0"/>
              </a:spcBef>
              <a:buNone/>
            </a:pPr>
            <a:r>
              <a:rPr lang="en-US" sz="2000" b="1" dirty="0">
                <a:solidFill>
                  <a:srgbClr val="0B1B33"/>
                </a:solidFill>
              </a:rPr>
              <a:t>Agent</a:t>
            </a:r>
          </a:p>
          <a:p>
            <a:pPr algn="l">
              <a:spcBef>
                <a:spcPts val="200"/>
              </a:spcBef>
              <a:buNone/>
            </a:pPr>
            <a:r>
              <a:rPr lang="en-US" sz="1500" b="0" dirty="0">
                <a:solidFill>
                  <a:srgbClr val="475569"/>
                </a:solidFill>
              </a:rPr>
              <a:t>Performs tasks and can modify files</a:t>
            </a:r>
          </a:p>
        </p:txBody>
      </p:sp>
      <p:sp>
        <p:nvSpPr>
          <p:cNvPr id="60" name="Shape 60"/>
          <p:cNvSpPr/>
          <p:nvPr/>
        </p:nvSpPr>
        <p:spPr>
          <a:xfrm>
            <a:off x="10058400" y="1955800"/>
            <a:ext cx="1320800" cy="330200"/>
          </a:xfrm>
          <a:prstGeom prst="roundRect">
            <a:avLst>
              <a:gd name="adj" fmla="val 50000"/>
            </a:avLst>
          </a:prstGeom>
          <a:solidFill>
            <a:srgbClr val="2563EB"/>
          </a:solidFill>
          <a:ln>
            <a:noFill/>
          </a:ln>
        </p:spPr>
        <p:txBody>
          <a:bodyPr wrap="square" lIns="50800" tIns="0" rIns="50800" bIns="0" rtlCol="0" anchor="ctr">
            <a:noAutofit/>
          </a:bodyPr>
          <a:lstStyle/>
          <a:p>
            <a:pPr algn="ctr">
              <a:spcBef>
                <a:spcPts val="0"/>
              </a:spcBef>
              <a:buNone/>
            </a:pPr>
            <a:r>
              <a:rPr lang="en-US" sz="1200" b="1" dirty="0">
                <a:solidFill>
                  <a:srgbClr val="FFFFFF"/>
                </a:solidFill>
              </a:rPr>
              <a:t>WE USE THIS</a:t>
            </a:r>
          </a:p>
        </p:txBody>
      </p:sp>
      <p:sp>
        <p:nvSpPr>
          <p:cNvPr id="61" name="Shape 61"/>
          <p:cNvSpPr/>
          <p:nvPr/>
        </p:nvSpPr>
        <p:spPr>
          <a:xfrm>
            <a:off x="609600" y="5486400"/>
            <a:ext cx="10972800" cy="609600"/>
          </a:xfrm>
          <a:prstGeom prst="rect">
            <a:avLst/>
          </a:prstGeom>
          <a:solidFill>
            <a:srgbClr val="DBEAFE"/>
          </a:solidFill>
          <a:ln>
            <a:noFill/>
          </a:ln>
        </p:spPr>
        <p:txBody>
          <a:bodyPr wrap="square" lIns="203200" tIns="50800" rIns="203200" bIns="50800" rtlCol="0" anchor="ctr">
            <a:noAutofit/>
          </a:bodyPr>
          <a:lstStyle/>
          <a:p>
            <a:pPr algn="l">
              <a:spcBef>
                <a:spcPts val="0"/>
              </a:spcBef>
              <a:buNone/>
            </a:pPr>
            <a:r>
              <a:rPr lang="en-US" sz="1600" b="1" dirty="0">
                <a:solidFill>
                  <a:srgbClr val="0B1B33"/>
                </a:solidFill>
              </a:rPr>
              <a:t>Today: review only. </a:t>
            </a:r>
            <a:r>
              <a:rPr lang="en-US" sz="1600" b="0" dirty="0">
                <a:solidFill>
                  <a:srgbClr val="0B1B33"/>
                </a:solidFill>
              </a:rPr>
              <a:t>Copilot reads and explains. It does not change files or run tests.</a:t>
            </a:r>
          </a:p>
        </p:txBody>
      </p:sp>
      <p:sp>
        <p:nvSpPr>
          <p:cNvPr id="62" name="Shape 62"/>
          <p:cNvSpPr/>
          <p:nvPr/>
        </p:nvSpPr>
        <p:spPr>
          <a:xfrm>
            <a:off x="609600" y="5486400"/>
            <a:ext cx="63500" cy="609600"/>
          </a:xfrm>
          <a:prstGeom prst="rect">
            <a:avLst/>
          </a:prstGeom>
          <a:solidFill>
            <a:srgbClr val="2563EB"/>
          </a:solidFill>
          <a:ln>
            <a:noFill/>
          </a:ln>
        </p:spPr>
        <p:txBody>
          <a:bodyPr wrap="square" lIns="0" tIns="0" rIns="0" bIns="0" rtlCol="0" anchor="t">
            <a:noAutofit/>
          </a:bodyPr>
          <a:lstStyle/>
          <a:p>
            <a:endParaRPr lang="en-US" dirty="0"/>
          </a:p>
        </p:txBody>
      </p:sp>
      <p:sp>
        <p:nvSpPr>
          <p:cNvPr id="63" name="Shape 63"/>
          <p:cNvSpPr txBox="1"/>
          <p:nvPr/>
        </p:nvSpPr>
        <p:spPr>
          <a:xfrm>
            <a:off x="609600" y="6197600"/>
            <a:ext cx="10972800" cy="279400"/>
          </a:xfrm>
          <a:prstGeom prst="rect">
            <a:avLst/>
          </a:prstGeom>
          <a:noFill/>
          <a:ln>
            <a:noFill/>
          </a:ln>
        </p:spPr>
        <p:txBody>
          <a:bodyPr wrap="square" lIns="0" tIns="0" rIns="0" bIns="0" rtlCol="0" anchor="t">
            <a:noAutofit/>
          </a:bodyPr>
          <a:lstStyle/>
          <a:p>
            <a:pPr algn="l">
              <a:spcBef>
                <a:spcPts val="0"/>
              </a:spcBef>
              <a:buNone/>
            </a:pPr>
            <a:r>
              <a:rPr lang="en-US" sz="1100" b="0" dirty="0">
                <a:solidFill>
                  <a:srgbClr val="64748B"/>
                </a:solidFill>
              </a:rPr>
              <a:t>Copilot menus, shortcuts and mode names change between versions. Check the options in your own VS Code.</a:t>
            </a:r>
          </a:p>
        </p:txBody>
      </p:sp>
    </p:spTree>
    <p:extLst>
      <p:ext uri="{BB962C8B-B14F-4D97-AF65-F5344CB8AC3E}">
        <p14:creationId xmlns:p14="http://schemas.microsoft.com/office/powerpoint/2010/main" val="1647600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B9EBF-E5A4-363F-0905-3E2EC86E0CFF}"/>
              </a:ext>
            </a:extLst>
          </p:cNvPr>
          <p:cNvSpPr>
            <a:spLocks noGrp="1"/>
          </p:cNvSpPr>
          <p:nvPr>
            <p:ph type="title"/>
          </p:nvPr>
        </p:nvSpPr>
        <p:spPr>
          <a:xfrm>
            <a:off x="609600" y="304800"/>
            <a:ext cx="10972800" cy="914400"/>
          </a:xfrm>
        </p:spPr>
        <p:txBody>
          <a:bodyPr/>
          <a:lstStyle/>
          <a:p>
            <a:pPr algn="l">
              <a:spcBef>
                <a:spcPts val="0"/>
              </a:spcBef>
              <a:buNone/>
            </a:pPr>
            <a:r>
              <a:rPr lang="en-US" sz="3200" b="1" dirty="0">
                <a:solidFill>
                  <a:srgbClr val="0B1B33"/>
                </a:solidFill>
              </a:rPr>
              <a:t>Our practical example: the real checkout tests</a:t>
            </a:r>
          </a:p>
        </p:txBody>
      </p:sp>
      <p:sp>
        <p:nvSpPr>
          <p:cNvPr id="10" name="Shape 10"/>
          <p:cNvSpPr/>
          <p:nvPr/>
        </p:nvSpPr>
        <p:spPr>
          <a:xfrm>
            <a:off x="609600" y="1371600"/>
            <a:ext cx="7467600" cy="4445000"/>
          </a:xfrm>
          <a:prstGeom prst="roundRect">
            <a:avLst>
              <a:gd name="adj" fmla="val 3000"/>
            </a:avLst>
          </a:prstGeom>
          <a:solidFill>
            <a:srgbClr val="0B1B33"/>
          </a:solidFill>
          <a:ln>
            <a:noFill/>
          </a:ln>
        </p:spPr>
        <p:txBody>
          <a:bodyPr wrap="square" lIns="127000" tIns="76200" rIns="127000" bIns="76200" rtlCol="0" anchor="t">
            <a:noAutofit/>
          </a:bodyPr>
          <a:lstStyle/>
          <a:p>
            <a:endParaRPr lang="en-US" dirty="0"/>
          </a:p>
        </p:txBody>
      </p:sp>
      <p:sp>
        <p:nvSpPr>
          <p:cNvPr id="11" name="Shape 11"/>
          <p:cNvSpPr/>
          <p:nvPr/>
        </p:nvSpPr>
        <p:spPr>
          <a:xfrm>
            <a:off x="609600" y="1371600"/>
            <a:ext cx="7467600" cy="431800"/>
          </a:xfrm>
          <a:prstGeom prst="rect">
            <a:avLst/>
          </a:prstGeom>
          <a:solidFill>
            <a:srgbClr val="13294B"/>
          </a:solidFill>
          <a:ln>
            <a:noFill/>
          </a:ln>
        </p:spPr>
        <p:txBody>
          <a:bodyPr wrap="square" lIns="203200" tIns="0" rIns="203200" bIns="0" rtlCol="0" anchor="ctr">
            <a:noAutofit/>
          </a:bodyPr>
          <a:lstStyle/>
          <a:p>
            <a:pPr algn="l">
              <a:spcBef>
                <a:spcPts val="0"/>
              </a:spcBef>
              <a:buNone/>
            </a:pPr>
            <a:r>
              <a:rPr lang="en-US" sz="1400" b="1" dirty="0">
                <a:solidFill>
                  <a:srgbClr val="E2E8F0"/>
                </a:solidFill>
                <a:latin typeface="Consolas"/>
                <a:cs typeface="Consolas"/>
              </a:rPr>
              <a:t>checkout.spec.ts</a:t>
            </a:r>
          </a:p>
        </p:txBody>
      </p:sp>
      <p:sp>
        <p:nvSpPr>
          <p:cNvPr id="20" name="Shape 20"/>
          <p:cNvSpPr txBox="1"/>
          <p:nvPr/>
        </p:nvSpPr>
        <p:spPr>
          <a:xfrm>
            <a:off x="8483600" y="1371600"/>
            <a:ext cx="3098800" cy="304800"/>
          </a:xfrm>
          <a:prstGeom prst="rect">
            <a:avLst/>
          </a:prstGeom>
          <a:noFill/>
          <a:ln>
            <a:noFill/>
          </a:ln>
        </p:spPr>
        <p:txBody>
          <a:bodyPr wrap="square" lIns="0" tIns="0" rIns="0" bIns="0" rtlCol="0" anchor="t">
            <a:noAutofit/>
          </a:bodyPr>
          <a:lstStyle/>
          <a:p>
            <a:pPr algn="l">
              <a:spcBef>
                <a:spcPts val="0"/>
              </a:spcBef>
              <a:buNone/>
            </a:pPr>
            <a:r>
              <a:rPr lang="en-US" sz="1400" b="1" dirty="0">
                <a:solidFill>
                  <a:srgbClr val="64748B"/>
                </a:solidFill>
              </a:rPr>
              <a:t>WHAT THE TEST DOES</a:t>
            </a:r>
          </a:p>
        </p:txBody>
      </p:sp>
      <p:sp>
        <p:nvSpPr>
          <p:cNvPr id="30" name="Shape 30"/>
          <p:cNvSpPr/>
          <p:nvPr/>
        </p:nvSpPr>
        <p:spPr>
          <a:xfrm>
            <a:off x="8483600" y="1803400"/>
            <a:ext cx="406400" cy="406400"/>
          </a:xfrm>
          <a:prstGeom prst="ellipse">
            <a:avLst/>
          </a:prstGeom>
          <a:solidFill>
            <a:srgbClr val="13294B"/>
          </a:solidFill>
          <a:ln>
            <a:noFill/>
          </a:ln>
        </p:spPr>
        <p:txBody>
          <a:bodyPr wrap="square" lIns="0" tIns="0" rIns="0" bIns="0" rtlCol="0" anchor="ctr">
            <a:noAutofit/>
          </a:bodyPr>
          <a:lstStyle/>
          <a:p>
            <a:pPr algn="ctr">
              <a:spcBef>
                <a:spcPts val="0"/>
              </a:spcBef>
              <a:buNone/>
            </a:pPr>
            <a:r>
              <a:rPr lang="en-US" sz="1500" b="1" dirty="0">
                <a:solidFill>
                  <a:srgbClr val="FFFFFF"/>
                </a:solidFill>
              </a:rPr>
              <a:t>1</a:t>
            </a:r>
          </a:p>
        </p:txBody>
      </p:sp>
      <p:sp>
        <p:nvSpPr>
          <p:cNvPr id="31" name="Shape 31"/>
          <p:cNvSpPr/>
          <p:nvPr/>
        </p:nvSpPr>
        <p:spPr>
          <a:xfrm>
            <a:off x="8483600" y="2641600"/>
            <a:ext cx="406400" cy="406400"/>
          </a:xfrm>
          <a:prstGeom prst="ellipse">
            <a:avLst/>
          </a:prstGeom>
          <a:solidFill>
            <a:srgbClr val="13294B"/>
          </a:solidFill>
          <a:ln>
            <a:noFill/>
          </a:ln>
        </p:spPr>
        <p:txBody>
          <a:bodyPr wrap="square" lIns="0" tIns="0" rIns="0" bIns="0" rtlCol="0" anchor="ctr">
            <a:noAutofit/>
          </a:bodyPr>
          <a:lstStyle/>
          <a:p>
            <a:pPr algn="ctr">
              <a:spcBef>
                <a:spcPts val="0"/>
              </a:spcBef>
              <a:buNone/>
            </a:pPr>
            <a:r>
              <a:rPr lang="en-US" sz="1500" b="1" dirty="0">
                <a:solidFill>
                  <a:srgbClr val="FFFFFF"/>
                </a:solidFill>
              </a:rPr>
              <a:t>2</a:t>
            </a:r>
          </a:p>
        </p:txBody>
      </p:sp>
      <p:sp>
        <p:nvSpPr>
          <p:cNvPr id="32" name="Shape 32"/>
          <p:cNvSpPr/>
          <p:nvPr/>
        </p:nvSpPr>
        <p:spPr>
          <a:xfrm>
            <a:off x="8483600" y="3479800"/>
            <a:ext cx="406400" cy="406400"/>
          </a:xfrm>
          <a:prstGeom prst="ellipse">
            <a:avLst/>
          </a:prstGeom>
          <a:solidFill>
            <a:srgbClr val="13294B"/>
          </a:solidFill>
          <a:ln>
            <a:noFill/>
          </a:ln>
        </p:spPr>
        <p:txBody>
          <a:bodyPr wrap="square" lIns="0" tIns="0" rIns="0" bIns="0" rtlCol="0" anchor="ctr">
            <a:noAutofit/>
          </a:bodyPr>
          <a:lstStyle/>
          <a:p>
            <a:pPr algn="ctr">
              <a:spcBef>
                <a:spcPts val="0"/>
              </a:spcBef>
              <a:buNone/>
            </a:pPr>
            <a:r>
              <a:rPr lang="en-US" sz="1500" b="1" dirty="0">
                <a:solidFill>
                  <a:srgbClr val="FFFFFF"/>
                </a:solidFill>
              </a:rPr>
              <a:t>3</a:t>
            </a:r>
          </a:p>
        </p:txBody>
      </p:sp>
      <p:sp>
        <p:nvSpPr>
          <p:cNvPr id="33" name="Shape 33"/>
          <p:cNvSpPr/>
          <p:nvPr/>
        </p:nvSpPr>
        <p:spPr>
          <a:xfrm>
            <a:off x="8483600" y="4318000"/>
            <a:ext cx="406400" cy="406400"/>
          </a:xfrm>
          <a:prstGeom prst="ellipse">
            <a:avLst/>
          </a:prstGeom>
          <a:solidFill>
            <a:srgbClr val="2563EB"/>
          </a:solidFill>
          <a:ln>
            <a:noFill/>
          </a:ln>
        </p:spPr>
        <p:txBody>
          <a:bodyPr wrap="square" lIns="0" tIns="0" rIns="0" bIns="0" rtlCol="0" anchor="ctr">
            <a:noAutofit/>
          </a:bodyPr>
          <a:lstStyle/>
          <a:p>
            <a:pPr algn="ctr">
              <a:spcBef>
                <a:spcPts val="0"/>
              </a:spcBef>
              <a:buNone/>
            </a:pPr>
            <a:r>
              <a:rPr lang="en-US" sz="1500" b="1" dirty="0">
                <a:solidFill>
                  <a:srgbClr val="FFFFFF"/>
                </a:solidFill>
              </a:rPr>
              <a:t>4</a:t>
            </a:r>
          </a:p>
        </p:txBody>
      </p:sp>
      <p:sp>
        <p:nvSpPr>
          <p:cNvPr id="34" name="Shape 34"/>
          <p:cNvSpPr/>
          <p:nvPr/>
        </p:nvSpPr>
        <p:spPr>
          <a:xfrm>
            <a:off x="8483600" y="5156200"/>
            <a:ext cx="406400" cy="406400"/>
          </a:xfrm>
          <a:prstGeom prst="ellipse">
            <a:avLst/>
          </a:prstGeom>
          <a:solidFill>
            <a:srgbClr val="13294B"/>
          </a:solidFill>
          <a:ln>
            <a:noFill/>
          </a:ln>
        </p:spPr>
        <p:txBody>
          <a:bodyPr wrap="square" lIns="0" tIns="0" rIns="0" bIns="0" rtlCol="0" anchor="ctr">
            <a:noAutofit/>
          </a:bodyPr>
          <a:lstStyle/>
          <a:p>
            <a:pPr algn="ctr">
              <a:spcBef>
                <a:spcPts val="0"/>
              </a:spcBef>
              <a:buNone/>
            </a:pPr>
            <a:r>
              <a:rPr lang="en-US" sz="1500" b="1" dirty="0">
                <a:solidFill>
                  <a:srgbClr val="FFFFFF"/>
                </a:solidFill>
              </a:rPr>
              <a:t>5</a:t>
            </a:r>
          </a:p>
        </p:txBody>
      </p:sp>
      <p:sp>
        <p:nvSpPr>
          <p:cNvPr id="12" name="Shape 12"/>
          <p:cNvSpPr/>
          <p:nvPr/>
        </p:nvSpPr>
        <p:spPr>
          <a:xfrm>
            <a:off x="6019800" y="1447800"/>
            <a:ext cx="1905000" cy="279400"/>
          </a:xfrm>
          <a:prstGeom prst="roundRect">
            <a:avLst>
              <a:gd name="adj" fmla="val 50000"/>
            </a:avLst>
          </a:prstGeom>
          <a:solidFill>
            <a:srgbClr val="2563EB"/>
          </a:solidFill>
          <a:ln>
            <a:noFill/>
          </a:ln>
        </p:spPr>
        <p:txBody>
          <a:bodyPr wrap="square" lIns="50800" tIns="0" rIns="50800" bIns="0" rtlCol="0" anchor="ctr">
            <a:noAutofit/>
          </a:bodyPr>
          <a:lstStyle/>
          <a:p>
            <a:pPr algn="ctr">
              <a:spcBef>
                <a:spcPts val="0"/>
              </a:spcBef>
              <a:buNone/>
            </a:pPr>
            <a:r>
              <a:rPr lang="en-US" sz="1100" b="1" dirty="0">
                <a:solidFill>
                  <a:srgbClr val="FFFFFF"/>
                </a:solidFill>
              </a:rPr>
              <a:t>FROM OUR PROJECT</a:t>
            </a:r>
          </a:p>
        </p:txBody>
      </p:sp>
      <p:sp>
        <p:nvSpPr>
          <p:cNvPr id="40" name="Shape 40"/>
          <p:cNvSpPr txBox="1"/>
          <p:nvPr/>
        </p:nvSpPr>
        <p:spPr>
          <a:xfrm>
            <a:off x="9017000" y="1752600"/>
            <a:ext cx="2565400" cy="711200"/>
          </a:xfrm>
          <a:prstGeom prst="rect">
            <a:avLst/>
          </a:prstGeom>
          <a:noFill/>
          <a:ln>
            <a:noFill/>
          </a:ln>
        </p:spPr>
        <p:txBody>
          <a:bodyPr wrap="square" lIns="0" tIns="0" rIns="0" bIns="0" rtlCol="0" anchor="t">
            <a:noAutofit/>
          </a:bodyPr>
          <a:lstStyle/>
          <a:p>
            <a:pPr algn="l">
              <a:lnSpc>
                <a:spcPct val="100000"/>
              </a:lnSpc>
              <a:spcBef>
                <a:spcPts val="0"/>
              </a:spcBef>
              <a:buNone/>
            </a:pPr>
            <a:r>
              <a:rPr lang="en-US" sz="1600" b="0" dirty="0">
                <a:solidFill>
                  <a:srgbClr val="0B1B33"/>
                </a:solidFill>
              </a:rPr>
              <a:t>Add two items to the cart</a:t>
            </a:r>
          </a:p>
        </p:txBody>
      </p:sp>
      <p:sp>
        <p:nvSpPr>
          <p:cNvPr id="41" name="Shape 41"/>
          <p:cNvSpPr txBox="1"/>
          <p:nvPr/>
        </p:nvSpPr>
        <p:spPr>
          <a:xfrm>
            <a:off x="9017000" y="2590800"/>
            <a:ext cx="2565400" cy="711200"/>
          </a:xfrm>
          <a:prstGeom prst="rect">
            <a:avLst/>
          </a:prstGeom>
          <a:noFill/>
          <a:ln>
            <a:noFill/>
          </a:ln>
        </p:spPr>
        <p:txBody>
          <a:bodyPr wrap="square" lIns="0" tIns="0" rIns="0" bIns="0" rtlCol="0" anchor="t">
            <a:noAutofit/>
          </a:bodyPr>
          <a:lstStyle/>
          <a:p>
            <a:pPr algn="l">
              <a:lnSpc>
                <a:spcPct val="100000"/>
              </a:lnSpc>
              <a:spcBef>
                <a:spcPts val="0"/>
              </a:spcBef>
              <a:buNone/>
            </a:pPr>
            <a:r>
              <a:rPr lang="en-US" sz="1600" b="0" dirty="0">
                <a:solidFill>
                  <a:srgbClr val="0B1B33"/>
                </a:solidFill>
              </a:rPr>
              <a:t>Open the cart and start checkout</a:t>
            </a:r>
          </a:p>
        </p:txBody>
      </p:sp>
      <p:sp>
        <p:nvSpPr>
          <p:cNvPr id="42" name="Shape 42"/>
          <p:cNvSpPr txBox="1"/>
          <p:nvPr/>
        </p:nvSpPr>
        <p:spPr>
          <a:xfrm>
            <a:off x="9017000" y="3429000"/>
            <a:ext cx="2565400" cy="711200"/>
          </a:xfrm>
          <a:prstGeom prst="rect">
            <a:avLst/>
          </a:prstGeom>
          <a:noFill/>
          <a:ln>
            <a:noFill/>
          </a:ln>
        </p:spPr>
        <p:txBody>
          <a:bodyPr wrap="square" lIns="0" tIns="0" rIns="0" bIns="0" rtlCol="0" anchor="t">
            <a:noAutofit/>
          </a:bodyPr>
          <a:lstStyle/>
          <a:p>
            <a:pPr algn="l">
              <a:lnSpc>
                <a:spcPct val="100000"/>
              </a:lnSpc>
              <a:spcBef>
                <a:spcPts val="0"/>
              </a:spcBef>
              <a:buNone/>
            </a:pPr>
            <a:r>
              <a:rPr lang="en-US" sz="1600" b="0" dirty="0">
                <a:solidFill>
                  <a:srgbClr val="0B1B33"/>
                </a:solidFill>
              </a:rPr>
              <a:t>Enter customer information</a:t>
            </a:r>
          </a:p>
        </p:txBody>
      </p:sp>
      <p:sp>
        <p:nvSpPr>
          <p:cNvPr id="43" name="Shape 43"/>
          <p:cNvSpPr txBox="1"/>
          <p:nvPr/>
        </p:nvSpPr>
        <p:spPr>
          <a:xfrm>
            <a:off x="9017000" y="4267200"/>
            <a:ext cx="2565400" cy="711200"/>
          </a:xfrm>
          <a:prstGeom prst="rect">
            <a:avLst/>
          </a:prstGeom>
          <a:noFill/>
          <a:ln>
            <a:noFill/>
          </a:ln>
        </p:spPr>
        <p:txBody>
          <a:bodyPr wrap="square" lIns="0" tIns="0" rIns="0" bIns="0" rtlCol="0" anchor="t">
            <a:noAutofit/>
          </a:bodyPr>
          <a:lstStyle/>
          <a:p>
            <a:pPr algn="l">
              <a:lnSpc>
                <a:spcPct val="100000"/>
              </a:lnSpc>
              <a:spcBef>
                <a:spcPts val="0"/>
              </a:spcBef>
              <a:buNone/>
            </a:pPr>
            <a:r>
              <a:rPr lang="en-US" sz="1600" b="1" dirty="0">
                <a:solidFill>
                  <a:srgbClr val="0B1B33"/>
                </a:solidFill>
              </a:rPr>
              <a:t>Check subtotal and total</a:t>
            </a:r>
          </a:p>
        </p:txBody>
      </p:sp>
      <p:sp>
        <p:nvSpPr>
          <p:cNvPr id="44" name="Shape 44"/>
          <p:cNvSpPr txBox="1"/>
          <p:nvPr/>
        </p:nvSpPr>
        <p:spPr>
          <a:xfrm>
            <a:off x="9017000" y="5105400"/>
            <a:ext cx="2565400" cy="711200"/>
          </a:xfrm>
          <a:prstGeom prst="rect">
            <a:avLst/>
          </a:prstGeom>
          <a:noFill/>
          <a:ln>
            <a:noFill/>
          </a:ln>
        </p:spPr>
        <p:txBody>
          <a:bodyPr wrap="square" lIns="0" tIns="0" rIns="0" bIns="0" rtlCol="0" anchor="t">
            <a:noAutofit/>
          </a:bodyPr>
          <a:lstStyle/>
          <a:p>
            <a:pPr algn="l">
              <a:lnSpc>
                <a:spcPct val="100000"/>
              </a:lnSpc>
              <a:spcBef>
                <a:spcPts val="0"/>
              </a:spcBef>
              <a:buNone/>
            </a:pPr>
            <a:r>
              <a:rPr lang="en-US" sz="1600" b="0" dirty="0">
                <a:solidFill>
                  <a:srgbClr val="0B1B33"/>
                </a:solidFill>
              </a:rPr>
              <a:t>Finish and check the order is complete</a:t>
            </a:r>
          </a:p>
        </p:txBody>
      </p:sp>
      <p:sp>
        <p:nvSpPr>
          <p:cNvPr id="50" name="Shape 50"/>
          <p:cNvSpPr txBox="1"/>
          <p:nvPr/>
        </p:nvSpPr>
        <p:spPr>
          <a:xfrm>
            <a:off x="609600" y="5969000"/>
            <a:ext cx="10972800" cy="279400"/>
          </a:xfrm>
          <a:prstGeom prst="rect">
            <a:avLst/>
          </a:prstGeom>
          <a:noFill/>
          <a:ln>
            <a:noFill/>
          </a:ln>
        </p:spPr>
        <p:txBody>
          <a:bodyPr wrap="square" lIns="0" tIns="0" rIns="0" bIns="0" rtlCol="0" anchor="t">
            <a:noAutofit/>
          </a:bodyPr>
          <a:lstStyle/>
          <a:p>
            <a:pPr algn="l">
              <a:spcBef>
                <a:spcPts val="0"/>
              </a:spcBef>
              <a:buNone/>
            </a:pPr>
            <a:r>
              <a:rPr lang="en-US" sz="1100" b="0" dirty="0">
                <a:solidFill>
                  <a:srgbClr val="64748B"/>
                </a:solidFill>
              </a:rPr>
              <a:t>Excerpt from checkout.spec.ts (test 1 of 3, fixture arguments shortened). The file also tests that first name and postal code are required.</a:t>
            </a:r>
          </a:p>
        </p:txBody>
      </p:sp>
      <p:sp>
        <p:nvSpPr>
          <p:cNvPr id="13" name="Shape 13"/>
          <p:cNvSpPr/>
          <p:nvPr/>
        </p:nvSpPr>
        <p:spPr>
          <a:xfrm>
            <a:off x="609600" y="1854200"/>
            <a:ext cx="7467600" cy="3911600"/>
          </a:xfrm>
          <a:prstGeom prst="rect">
            <a:avLst/>
          </a:prstGeom>
          <a:noFill/>
          <a:ln>
            <a:noFill/>
          </a:ln>
        </p:spPr>
        <p:txBody>
          <a:bodyPr wrap="square" lIns="203200" tIns="152400" rIns="203200" bIns="152400" rtlCol="0" anchor="t">
            <a:noAutofit/>
          </a:bodyPr>
          <a:lstStyle/>
          <a:p>
            <a:pPr algn="l">
              <a:lnSpc>
                <a:spcPct val="110000"/>
              </a:lnSpc>
              <a:spcBef>
                <a:spcPts val="0"/>
              </a:spcBef>
              <a:buNone/>
            </a:pPr>
            <a:r>
              <a:rPr lang="en-US" sz="1400" b="0" dirty="0">
                <a:solidFill>
                  <a:srgbClr val="E2E8F0"/>
                </a:solidFill>
                <a:latin typeface="Consolas"/>
                <a:cs typeface="Consolas"/>
              </a:rPr>
              <a:t>test(</a:t>
            </a:r>
            <a:r>
              <a:rPr lang="en-US" sz="1400" b="0" dirty="0">
                <a:solidFill>
                  <a:srgbClr val="86EFAC"/>
                </a:solidFill>
                <a:latin typeface="Consolas"/>
                <a:cs typeface="Consolas"/>
              </a:rPr>
              <a:t>'complete an order end to end'</a:t>
            </a:r>
            <a:r>
              <a:rPr lang="en-US" sz="1400" b="0" dirty="0">
                <a:solidFill>
                  <a:srgbClr val="E2E8F0"/>
                </a:solidFill>
                <a:latin typeface="Consolas"/>
                <a:cs typeface="Consolas"/>
              </a:rPr>
              <a:t>, </a:t>
            </a:r>
            <a:r>
              <a:rPr lang="en-US" sz="1400" b="0" dirty="0">
                <a:solidFill>
                  <a:srgbClr val="C084FC"/>
                </a:solidFill>
                <a:latin typeface="Consolas"/>
                <a:cs typeface="Consolas"/>
              </a:rPr>
              <a:t>async</a:t>
            </a:r>
            <a:r>
              <a:rPr lang="en-US" sz="1400" b="0" dirty="0">
                <a:solidFill>
                  <a:srgbClr val="E2E8F0"/>
                </a:solidFill>
                <a:latin typeface="Consolas"/>
                <a:cs typeface="Consolas"/>
              </a:rPr>
              <a:t> ({ ... }) =&gt; {</a:t>
            </a:r>
          </a:p>
          <a:p>
            <a:pPr algn="l">
              <a:lnSpc>
                <a:spcPct val="110000"/>
              </a:lnSpc>
              <a:spcBef>
                <a:spcPts val="0"/>
              </a:spcBef>
              <a:buNone/>
            </a:pPr>
            <a:r>
              <a:rPr lang="en-US" sz="1400" b="0" dirty="0">
                <a:solidFill>
                  <a:srgbClr val="E2E8F0"/>
                </a:solidFill>
                <a:latin typeface="Consolas"/>
                <a:cs typeface="Consolas"/>
              </a:rPr>
              <a:t>  </a:t>
            </a:r>
            <a:r>
              <a:rPr lang="en-US" sz="1400" b="0" dirty="0">
                <a:solidFill>
                  <a:srgbClr val="C084FC"/>
                </a:solidFill>
                <a:latin typeface="Consolas"/>
                <a:cs typeface="Consolas"/>
              </a:rPr>
              <a:t>await</a:t>
            </a:r>
            <a:r>
              <a:rPr lang="en-US" sz="1400" b="0" dirty="0">
                <a:solidFill>
                  <a:srgbClr val="E2E8F0"/>
                </a:solidFill>
                <a:latin typeface="Consolas"/>
                <a:cs typeface="Consolas"/>
              </a:rPr>
              <a:t> loggedIn.addToCart(</a:t>
            </a:r>
            <a:r>
              <a:rPr lang="en-US" sz="1400" b="0" dirty="0">
                <a:solidFill>
                  <a:srgbClr val="86EFAC"/>
                </a:solidFill>
                <a:latin typeface="Consolas"/>
                <a:cs typeface="Consolas"/>
              </a:rPr>
              <a:t>'Sauce Labs Backpack'</a:t>
            </a:r>
            <a:r>
              <a:rPr lang="en-US" sz="1400" b="0" dirty="0">
                <a:solidFill>
                  <a:srgbClr val="E2E8F0"/>
                </a:solidFill>
                <a:latin typeface="Consolas"/>
                <a:cs typeface="Consolas"/>
              </a:rPr>
              <a:t>);</a:t>
            </a:r>
            <a:r>
              <a:rPr lang="en-US" sz="1400" b="0" dirty="0">
                <a:solidFill>
                  <a:srgbClr val="7DD3FC"/>
                </a:solidFill>
                <a:latin typeface="Consolas"/>
                <a:cs typeface="Consolas"/>
              </a:rPr>
              <a:t>  // 1</a:t>
            </a:r>
          </a:p>
          <a:p>
            <a:pPr algn="l">
              <a:lnSpc>
                <a:spcPct val="110000"/>
              </a:lnSpc>
              <a:spcBef>
                <a:spcPts val="0"/>
              </a:spcBef>
              <a:buNone/>
            </a:pPr>
            <a:r>
              <a:rPr lang="en-US" sz="1400" b="0" dirty="0">
                <a:solidFill>
                  <a:srgbClr val="E2E8F0"/>
                </a:solidFill>
                <a:latin typeface="Consolas"/>
                <a:cs typeface="Consolas"/>
              </a:rPr>
              <a:t>  </a:t>
            </a:r>
            <a:r>
              <a:rPr lang="en-US" sz="1400" b="0" dirty="0">
                <a:solidFill>
                  <a:srgbClr val="C084FC"/>
                </a:solidFill>
                <a:latin typeface="Consolas"/>
                <a:cs typeface="Consolas"/>
              </a:rPr>
              <a:t>await</a:t>
            </a:r>
            <a:r>
              <a:rPr lang="en-US" sz="1400" b="0" dirty="0">
                <a:solidFill>
                  <a:srgbClr val="E2E8F0"/>
                </a:solidFill>
                <a:latin typeface="Consolas"/>
                <a:cs typeface="Consolas"/>
              </a:rPr>
              <a:t> loggedIn.addToCart(</a:t>
            </a:r>
            <a:r>
              <a:rPr lang="en-US" sz="1400" b="0" dirty="0">
                <a:solidFill>
                  <a:srgbClr val="86EFAC"/>
                </a:solidFill>
                <a:latin typeface="Consolas"/>
                <a:cs typeface="Consolas"/>
              </a:rPr>
              <a:t>'Sauce Labs Onesie'</a:t>
            </a:r>
            <a:r>
              <a:rPr lang="en-US" sz="1400" b="0" dirty="0">
                <a:solidFill>
                  <a:srgbClr val="E2E8F0"/>
                </a:solidFill>
                <a:latin typeface="Consolas"/>
                <a:cs typeface="Consolas"/>
              </a:rPr>
              <a:t>);</a:t>
            </a:r>
          </a:p>
          <a:p>
            <a:pPr algn="l">
              <a:lnSpc>
                <a:spcPct val="110000"/>
              </a:lnSpc>
              <a:spcBef>
                <a:spcPts val="0"/>
              </a:spcBef>
              <a:buNone/>
            </a:pPr>
            <a:r>
              <a:rPr lang="en-US" sz="1400" b="0" dirty="0">
                <a:solidFill>
                  <a:srgbClr val="E2E8F0"/>
                </a:solidFill>
                <a:latin typeface="Consolas"/>
                <a:cs typeface="Consolas"/>
              </a:rPr>
              <a:t>  </a:t>
            </a:r>
            <a:r>
              <a:rPr lang="en-US" sz="1400" b="0" dirty="0">
                <a:solidFill>
                  <a:srgbClr val="C084FC"/>
                </a:solidFill>
                <a:latin typeface="Consolas"/>
                <a:cs typeface="Consolas"/>
              </a:rPr>
              <a:t>await</a:t>
            </a:r>
            <a:r>
              <a:rPr lang="en-US" sz="1400" b="0" dirty="0">
                <a:solidFill>
                  <a:srgbClr val="E2E8F0"/>
                </a:solidFill>
                <a:latin typeface="Consolas"/>
                <a:cs typeface="Consolas"/>
              </a:rPr>
              <a:t> loggedIn.openCart();</a:t>
            </a:r>
          </a:p>
          <a:p>
            <a:pPr algn="l">
              <a:lnSpc>
                <a:spcPct val="110000"/>
              </a:lnSpc>
              <a:spcBef>
                <a:spcPts val="0"/>
              </a:spcBef>
              <a:buNone/>
            </a:pPr>
            <a:r>
              <a:rPr lang="en-US" sz="1400" b="0" dirty="0">
                <a:solidFill>
                  <a:srgbClr val="E2E8F0"/>
                </a:solidFill>
                <a:latin typeface="Consolas"/>
                <a:cs typeface="Consolas"/>
              </a:rPr>
              <a:t>  </a:t>
            </a:r>
            <a:r>
              <a:rPr lang="en-US" sz="1400" b="0" dirty="0">
                <a:solidFill>
                  <a:srgbClr val="C084FC"/>
                </a:solidFill>
                <a:latin typeface="Consolas"/>
                <a:cs typeface="Consolas"/>
              </a:rPr>
              <a:t>await</a:t>
            </a:r>
            <a:r>
              <a:rPr lang="en-US" sz="1400" b="0" dirty="0">
                <a:solidFill>
                  <a:srgbClr val="E2E8F0"/>
                </a:solidFill>
                <a:latin typeface="Consolas"/>
                <a:cs typeface="Consolas"/>
              </a:rPr>
              <a:t> cartPage.checkout();</a:t>
            </a:r>
            <a:r>
              <a:rPr lang="en-US" sz="1400" b="0" dirty="0">
                <a:solidFill>
                  <a:srgbClr val="7DD3FC"/>
                </a:solidFill>
                <a:latin typeface="Consolas"/>
                <a:cs typeface="Consolas"/>
              </a:rPr>
              <a:t>                        // 2</a:t>
            </a:r>
          </a:p>
          <a:p>
            <a:pPr algn="l">
              <a:lnSpc>
                <a:spcPct val="110000"/>
              </a:lnSpc>
              <a:spcBef>
                <a:spcPts val="0"/>
              </a:spcBef>
              <a:buNone/>
            </a:pPr>
            <a:r>
              <a:rPr lang="en-US" sz="1400" b="0" dirty="0">
                <a:solidFill>
                  <a:srgbClr val="E2E8F0"/>
                </a:solidFill>
                <a:latin typeface="Consolas"/>
                <a:cs typeface="Consolas"/>
              </a:rPr>
              <a:t>  </a:t>
            </a:r>
            <a:r>
              <a:rPr lang="en-US" sz="1400" b="0" dirty="0">
                <a:solidFill>
                  <a:srgbClr val="C084FC"/>
                </a:solidFill>
                <a:latin typeface="Consolas"/>
                <a:cs typeface="Consolas"/>
              </a:rPr>
              <a:t>await</a:t>
            </a:r>
            <a:r>
              <a:rPr lang="en-US" sz="1400" b="0" dirty="0">
                <a:solidFill>
                  <a:srgbClr val="E2E8F0"/>
                </a:solidFill>
                <a:latin typeface="Consolas"/>
                <a:cs typeface="Consolas"/>
              </a:rPr>
              <a:t> checkoutPage.fillInfo(CUSTOMER.firstName,</a:t>
            </a:r>
            <a:r>
              <a:rPr lang="en-US" sz="1400" b="0" dirty="0">
                <a:solidFill>
                  <a:srgbClr val="7DD3FC"/>
                </a:solidFill>
                <a:latin typeface="Consolas"/>
                <a:cs typeface="Consolas"/>
              </a:rPr>
              <a:t>   // 3</a:t>
            </a:r>
          </a:p>
          <a:p>
            <a:pPr algn="l">
              <a:lnSpc>
                <a:spcPct val="110000"/>
              </a:lnSpc>
              <a:spcBef>
                <a:spcPts val="0"/>
              </a:spcBef>
              <a:buNone/>
            </a:pPr>
            <a:r>
              <a:rPr lang="en-US" sz="1400" b="0" dirty="0">
                <a:solidFill>
                  <a:srgbClr val="E2E8F0"/>
                </a:solidFill>
                <a:latin typeface="Consolas"/>
                <a:cs typeface="Consolas"/>
              </a:rPr>
              <a:t>    CUSTOMER.lastName, CUSTOMER.postalCode);</a:t>
            </a:r>
          </a:p>
          <a:p>
            <a:pPr algn="l">
              <a:lnSpc>
                <a:spcPct val="110000"/>
              </a:lnSpc>
              <a:spcBef>
                <a:spcPts val="0"/>
              </a:spcBef>
              <a:buNone/>
            </a:pPr>
            <a:r>
              <a:rPr lang="en-US" sz="1400" b="0" dirty="0">
                <a:solidFill>
                  <a:srgbClr val="E2E8F0"/>
                </a:solidFill>
                <a:latin typeface="Consolas"/>
                <a:cs typeface="Consolas"/>
              </a:rPr>
              <a:t>  </a:t>
            </a:r>
            <a:r>
              <a:rPr lang="en-US" sz="1400" b="0" dirty="0">
                <a:solidFill>
                  <a:srgbClr val="C084FC"/>
                </a:solidFill>
                <a:latin typeface="Consolas"/>
                <a:cs typeface="Consolas"/>
              </a:rPr>
              <a:t>const</a:t>
            </a:r>
            <a:r>
              <a:rPr lang="en-US" sz="1400" b="0" dirty="0">
                <a:solidFill>
                  <a:srgbClr val="E2E8F0"/>
                </a:solidFill>
                <a:latin typeface="Consolas"/>
                <a:cs typeface="Consolas"/>
              </a:rPr>
              <a:t> { subtotal, tax, total } =</a:t>
            </a:r>
          </a:p>
          <a:p>
            <a:pPr algn="l">
              <a:lnSpc>
                <a:spcPct val="110000"/>
              </a:lnSpc>
              <a:spcBef>
                <a:spcPts val="0"/>
              </a:spcBef>
              <a:buNone/>
            </a:pPr>
            <a:r>
              <a:rPr lang="en-US" sz="1400" b="0" dirty="0">
                <a:solidFill>
                  <a:srgbClr val="E2E8F0"/>
                </a:solidFill>
                <a:latin typeface="Consolas"/>
                <a:cs typeface="Consolas"/>
              </a:rPr>
              <a:t>    </a:t>
            </a:r>
            <a:r>
              <a:rPr lang="en-US" sz="1400" b="0" dirty="0">
                <a:solidFill>
                  <a:srgbClr val="C084FC"/>
                </a:solidFill>
                <a:latin typeface="Consolas"/>
                <a:cs typeface="Consolas"/>
              </a:rPr>
              <a:t>await</a:t>
            </a:r>
            <a:r>
              <a:rPr lang="en-US" sz="1400" b="0" dirty="0">
                <a:solidFill>
                  <a:srgbClr val="E2E8F0"/>
                </a:solidFill>
                <a:latin typeface="Consolas"/>
                <a:cs typeface="Consolas"/>
              </a:rPr>
              <a:t> checkoutPage.getSummary();</a:t>
            </a:r>
          </a:p>
          <a:p>
            <a:pPr algn="l">
              <a:lnSpc>
                <a:spcPct val="110000"/>
              </a:lnSpc>
              <a:spcBef>
                <a:spcPts val="0"/>
              </a:spcBef>
              <a:buNone/>
            </a:pPr>
            <a:r>
              <a:rPr lang="en-US" sz="1400" b="0" dirty="0">
                <a:solidFill>
                  <a:srgbClr val="E2E8F0"/>
                </a:solidFill>
                <a:latin typeface="Consolas"/>
                <a:cs typeface="Consolas"/>
              </a:rPr>
              <a:t>  expect(subtotal).toBeCloseTo(</a:t>
            </a:r>
            <a:r>
              <a:rPr lang="en-US" sz="1400" b="0" dirty="0">
                <a:solidFill>
                  <a:srgbClr val="FCD34D"/>
                </a:solidFill>
                <a:latin typeface="Consolas"/>
                <a:cs typeface="Consolas"/>
              </a:rPr>
              <a:t>29.99</a:t>
            </a:r>
            <a:r>
              <a:rPr lang="en-US" sz="1400" b="0" dirty="0">
                <a:solidFill>
                  <a:srgbClr val="E2E8F0"/>
                </a:solidFill>
                <a:latin typeface="Consolas"/>
                <a:cs typeface="Consolas"/>
              </a:rPr>
              <a:t> + </a:t>
            </a:r>
            <a:r>
              <a:rPr lang="en-US" sz="1400" b="0" dirty="0">
                <a:solidFill>
                  <a:srgbClr val="FCD34D"/>
                </a:solidFill>
                <a:latin typeface="Consolas"/>
                <a:cs typeface="Consolas"/>
              </a:rPr>
              <a:t>7.99</a:t>
            </a:r>
            <a:r>
              <a:rPr lang="en-US" sz="1400" b="0" dirty="0">
                <a:solidFill>
                  <a:srgbClr val="E2E8F0"/>
                </a:solidFill>
                <a:latin typeface="Consolas"/>
                <a:cs typeface="Consolas"/>
              </a:rPr>
              <a:t>, </a:t>
            </a:r>
            <a:r>
              <a:rPr lang="en-US" sz="1400" b="0" dirty="0">
                <a:solidFill>
                  <a:srgbClr val="FCD34D"/>
                </a:solidFill>
                <a:latin typeface="Consolas"/>
                <a:cs typeface="Consolas"/>
              </a:rPr>
              <a:t>2</a:t>
            </a:r>
            <a:r>
              <a:rPr lang="en-US" sz="1400" b="0" dirty="0">
                <a:solidFill>
                  <a:srgbClr val="E2E8F0"/>
                </a:solidFill>
                <a:latin typeface="Consolas"/>
                <a:cs typeface="Consolas"/>
              </a:rPr>
              <a:t>);</a:t>
            </a:r>
            <a:r>
              <a:rPr lang="en-US" sz="1400" b="0" dirty="0">
                <a:solidFill>
                  <a:srgbClr val="7DD3FC"/>
                </a:solidFill>
                <a:latin typeface="Consolas"/>
                <a:cs typeface="Consolas"/>
              </a:rPr>
              <a:t>    // 4</a:t>
            </a:r>
          </a:p>
          <a:p>
            <a:pPr algn="l">
              <a:lnSpc>
                <a:spcPct val="110000"/>
              </a:lnSpc>
              <a:spcBef>
                <a:spcPts val="0"/>
              </a:spcBef>
              <a:buNone/>
            </a:pPr>
            <a:r>
              <a:rPr lang="en-US" sz="1400" b="0" dirty="0">
                <a:solidFill>
                  <a:srgbClr val="E2E8F0"/>
                </a:solidFill>
                <a:latin typeface="Consolas"/>
                <a:cs typeface="Consolas"/>
              </a:rPr>
              <a:t>  expect(total).toBeCloseTo(subtotal + tax, </a:t>
            </a:r>
            <a:r>
              <a:rPr lang="en-US" sz="1400" b="0" dirty="0">
                <a:solidFill>
                  <a:srgbClr val="FCD34D"/>
                </a:solidFill>
                <a:latin typeface="Consolas"/>
                <a:cs typeface="Consolas"/>
              </a:rPr>
              <a:t>2</a:t>
            </a:r>
            <a:r>
              <a:rPr lang="en-US" sz="1400" b="0" dirty="0">
                <a:solidFill>
                  <a:srgbClr val="E2E8F0"/>
                </a:solidFill>
                <a:latin typeface="Consolas"/>
                <a:cs typeface="Consolas"/>
              </a:rPr>
              <a:t>);</a:t>
            </a:r>
          </a:p>
          <a:p>
            <a:pPr algn="l">
              <a:lnSpc>
                <a:spcPct val="110000"/>
              </a:lnSpc>
              <a:spcBef>
                <a:spcPts val="0"/>
              </a:spcBef>
              <a:buNone/>
            </a:pPr>
            <a:r>
              <a:rPr lang="en-US" sz="1400" b="0" dirty="0">
                <a:solidFill>
                  <a:srgbClr val="E2E8F0"/>
                </a:solidFill>
                <a:latin typeface="Consolas"/>
                <a:cs typeface="Consolas"/>
              </a:rPr>
              <a:t>  </a:t>
            </a:r>
            <a:r>
              <a:rPr lang="en-US" sz="1400" b="0" dirty="0">
                <a:solidFill>
                  <a:srgbClr val="C084FC"/>
                </a:solidFill>
                <a:latin typeface="Consolas"/>
                <a:cs typeface="Consolas"/>
              </a:rPr>
              <a:t>await</a:t>
            </a:r>
            <a:r>
              <a:rPr lang="en-US" sz="1400" b="0" dirty="0">
                <a:solidFill>
                  <a:srgbClr val="E2E8F0"/>
                </a:solidFill>
                <a:latin typeface="Consolas"/>
                <a:cs typeface="Consolas"/>
              </a:rPr>
              <a:t> checkoutPage.finish();</a:t>
            </a:r>
          </a:p>
          <a:p>
            <a:pPr algn="l">
              <a:lnSpc>
                <a:spcPct val="110000"/>
              </a:lnSpc>
              <a:spcBef>
                <a:spcPts val="0"/>
              </a:spcBef>
              <a:buNone/>
            </a:pPr>
            <a:r>
              <a:rPr lang="en-US" sz="1400" b="0" dirty="0">
                <a:solidFill>
                  <a:srgbClr val="E2E8F0"/>
                </a:solidFill>
                <a:latin typeface="Consolas"/>
                <a:cs typeface="Consolas"/>
              </a:rPr>
              <a:t>  </a:t>
            </a:r>
            <a:r>
              <a:rPr lang="en-US" sz="1400" b="0" dirty="0">
                <a:solidFill>
                  <a:srgbClr val="C084FC"/>
                </a:solidFill>
                <a:latin typeface="Consolas"/>
                <a:cs typeface="Consolas"/>
              </a:rPr>
              <a:t>await</a:t>
            </a:r>
            <a:r>
              <a:rPr lang="en-US" sz="1400" b="0" dirty="0">
                <a:solidFill>
                  <a:srgbClr val="E2E8F0"/>
                </a:solidFill>
                <a:latin typeface="Consolas"/>
                <a:cs typeface="Consolas"/>
              </a:rPr>
              <a:t> checkoutPage.expectComplete();</a:t>
            </a:r>
            <a:r>
              <a:rPr lang="en-US" sz="1400" b="0" dirty="0">
                <a:solidFill>
                  <a:srgbClr val="7DD3FC"/>
                </a:solidFill>
                <a:latin typeface="Consolas"/>
                <a:cs typeface="Consolas"/>
              </a:rPr>
              <a:t>              // 5</a:t>
            </a:r>
          </a:p>
          <a:p>
            <a:pPr algn="l">
              <a:lnSpc>
                <a:spcPct val="110000"/>
              </a:lnSpc>
              <a:spcBef>
                <a:spcPts val="0"/>
              </a:spcBef>
              <a:buNone/>
            </a:pPr>
            <a:r>
              <a:rPr lang="en-US" sz="1400" b="0" dirty="0">
                <a:solidFill>
                  <a:srgbClr val="E2E8F0"/>
                </a:solidFill>
                <a:latin typeface="Consolas"/>
                <a:cs typeface="Consolas"/>
              </a:rPr>
              <a:t>});</a:t>
            </a:r>
          </a:p>
        </p:txBody>
      </p:sp>
    </p:spTree>
    <p:extLst>
      <p:ext uri="{BB962C8B-B14F-4D97-AF65-F5344CB8AC3E}">
        <p14:creationId xmlns:p14="http://schemas.microsoft.com/office/powerpoint/2010/main" val="3132144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DFCFC-E535-CB40-9C13-5C02C4ED6D71}"/>
              </a:ext>
            </a:extLst>
          </p:cNvPr>
          <p:cNvSpPr>
            <a:spLocks noGrp="1"/>
          </p:cNvSpPr>
          <p:nvPr>
            <p:ph type="title"/>
          </p:nvPr>
        </p:nvSpPr>
        <p:spPr>
          <a:xfrm>
            <a:off x="609600" y="304800"/>
            <a:ext cx="10972800" cy="914400"/>
          </a:xfrm>
        </p:spPr>
        <p:txBody>
          <a:bodyPr/>
          <a:lstStyle/>
          <a:p>
            <a:pPr algn="l">
              <a:spcBef>
                <a:spcPts val="0"/>
              </a:spcBef>
              <a:buNone/>
            </a:pPr>
            <a:r>
              <a:rPr lang="en-US" sz="3200" b="1" dirty="0">
                <a:solidFill>
                  <a:srgbClr val="0B1B33"/>
                </a:solidFill>
              </a:rPr>
              <a:t>The prompt we give Copilot</a:t>
            </a:r>
          </a:p>
        </p:txBody>
      </p:sp>
      <p:sp>
        <p:nvSpPr>
          <p:cNvPr id="10" name="Shape 10"/>
          <p:cNvSpPr/>
          <p:nvPr/>
        </p:nvSpPr>
        <p:spPr>
          <a:xfrm>
            <a:off x="609600" y="1320800"/>
            <a:ext cx="10972800" cy="4064000"/>
          </a:xfrm>
          <a:prstGeom prst="roundRect">
            <a:avLst>
              <a:gd name="adj" fmla="val 2500"/>
            </a:avLst>
          </a:prstGeom>
          <a:solidFill>
            <a:srgbClr val="0B1B33"/>
          </a:solidFill>
          <a:ln>
            <a:noFill/>
          </a:ln>
        </p:spPr>
        <p:txBody>
          <a:bodyPr wrap="square" lIns="127000" tIns="76200" rIns="127000" bIns="76200" rtlCol="0" anchor="t">
            <a:noAutofit/>
          </a:bodyPr>
          <a:lstStyle/>
          <a:p>
            <a:endParaRPr lang="en-US" dirty="0"/>
          </a:p>
        </p:txBody>
      </p:sp>
      <p:sp>
        <p:nvSpPr>
          <p:cNvPr id="11" name="Shape 11"/>
          <p:cNvSpPr/>
          <p:nvPr/>
        </p:nvSpPr>
        <p:spPr>
          <a:xfrm>
            <a:off x="609600" y="1320800"/>
            <a:ext cx="10972800" cy="431800"/>
          </a:xfrm>
          <a:prstGeom prst="rect">
            <a:avLst/>
          </a:prstGeom>
          <a:solidFill>
            <a:srgbClr val="13294B"/>
          </a:solidFill>
          <a:ln>
            <a:noFill/>
          </a:ln>
        </p:spPr>
        <p:txBody>
          <a:bodyPr wrap="square" lIns="203200" tIns="0" rIns="203200" bIns="0" rtlCol="0" anchor="ctr">
            <a:noAutofit/>
          </a:bodyPr>
          <a:lstStyle/>
          <a:p>
            <a:pPr algn="l">
              <a:spcBef>
                <a:spcPts val="0"/>
              </a:spcBef>
              <a:buNone/>
            </a:pPr>
            <a:r>
              <a:rPr lang="en-US" sz="1400" b="1" dirty="0">
                <a:solidFill>
                  <a:srgbClr val="E2E8F0"/>
                </a:solidFill>
              </a:rPr>
              <a:t>Copilot Chat  ·  Ask mode</a:t>
            </a:r>
          </a:p>
        </p:txBody>
      </p:sp>
      <p:sp>
        <p:nvSpPr>
          <p:cNvPr id="12" name="Shape 12"/>
          <p:cNvSpPr/>
          <p:nvPr/>
        </p:nvSpPr>
        <p:spPr>
          <a:xfrm>
            <a:off x="9804400" y="1397000"/>
            <a:ext cx="1625600" cy="279400"/>
          </a:xfrm>
          <a:prstGeom prst="roundRect">
            <a:avLst>
              <a:gd name="adj" fmla="val 50000"/>
            </a:avLst>
          </a:prstGeom>
          <a:solidFill>
            <a:srgbClr val="2563EB"/>
          </a:solidFill>
          <a:ln>
            <a:noFill/>
          </a:ln>
        </p:spPr>
        <p:txBody>
          <a:bodyPr wrap="square" lIns="50800" tIns="0" rIns="50800" bIns="0" rtlCol="0" anchor="ctr">
            <a:noAutofit/>
          </a:bodyPr>
          <a:lstStyle/>
          <a:p>
            <a:pPr algn="ctr">
              <a:spcBef>
                <a:spcPts val="0"/>
              </a:spcBef>
              <a:buNone/>
            </a:pPr>
            <a:r>
              <a:rPr lang="en-US" sz="1100" b="1" dirty="0">
                <a:solidFill>
                  <a:srgbClr val="FFFFFF"/>
                </a:solidFill>
              </a:rPr>
              <a:t>COPY THIS PROMPT</a:t>
            </a:r>
          </a:p>
        </p:txBody>
      </p:sp>
      <p:sp>
        <p:nvSpPr>
          <p:cNvPr id="13" name="Shape 13"/>
          <p:cNvSpPr/>
          <p:nvPr/>
        </p:nvSpPr>
        <p:spPr>
          <a:xfrm>
            <a:off x="609600" y="1828800"/>
            <a:ext cx="10972800" cy="3505200"/>
          </a:xfrm>
          <a:prstGeom prst="rect">
            <a:avLst/>
          </a:prstGeom>
          <a:noFill/>
          <a:ln>
            <a:noFill/>
          </a:ln>
        </p:spPr>
        <p:txBody>
          <a:bodyPr wrap="square" lIns="254000" tIns="101600" rIns="254000" bIns="101600" rtlCol="0" anchor="t">
            <a:noAutofit/>
          </a:bodyPr>
          <a:lstStyle/>
          <a:p>
            <a:pPr algn="l">
              <a:lnSpc>
                <a:spcPct val="112000"/>
              </a:lnSpc>
              <a:spcBef>
                <a:spcPts val="0"/>
              </a:spcBef>
              <a:buNone/>
            </a:pPr>
            <a:r>
              <a:rPr lang="en-US" sz="1700" b="0" dirty="0">
                <a:solidFill>
                  <a:srgbClr val="60A5FA"/>
                </a:solidFill>
                <a:latin typeface="Consolas"/>
                <a:cs typeface="Consolas"/>
              </a:rPr>
              <a:t>Act as a Senior QA Automation Engineer.</a:t>
            </a:r>
          </a:p>
          <a:p>
            <a:pPr algn="l">
              <a:lnSpc>
                <a:spcPct val="112000"/>
              </a:lnSpc>
              <a:spcBef>
                <a:spcPts val="0"/>
              </a:spcBef>
              <a:buNone/>
            </a:pPr>
            <a:r>
              <a:rPr lang="en-US" sz="1700" b="0" dirty="0">
                <a:solidFill>
                  <a:srgbClr val="F1F5F9"/>
                </a:solidFill>
                <a:latin typeface="Consolas"/>
                <a:cs typeface="Consolas"/>
              </a:rPr>
              <a:t>Review this Playwright TypeScript test file.</a:t>
            </a:r>
          </a:p>
          <a:p>
            <a:pPr algn="l">
              <a:lnSpc>
                <a:spcPct val="112000"/>
              </a:lnSpc>
              <a:spcBef>
                <a:spcPts val="0"/>
              </a:spcBef>
              <a:buNone/>
            </a:pPr>
            <a:r>
              <a:rPr lang="en-US" sz="1700" b="0" dirty="0">
                <a:solidFill>
                  <a:srgbClr val="F1F5F9"/>
                </a:solidFill>
                <a:latin typeface="Consolas"/>
                <a:cs typeface="Consolas"/>
              </a:rPr>
              <a:t>Check whether the test scenarios cover the main checkout flow.</a:t>
            </a:r>
          </a:p>
          <a:p>
            <a:pPr algn="l">
              <a:lnSpc>
                <a:spcPct val="112000"/>
              </a:lnSpc>
              <a:spcBef>
                <a:spcPts val="0"/>
              </a:spcBef>
              <a:buNone/>
            </a:pPr>
            <a:r>
              <a:rPr lang="en-US" sz="1700" b="0" dirty="0">
                <a:solidFill>
                  <a:srgbClr val="F1F5F9"/>
                </a:solidFill>
                <a:latin typeface="Consolas"/>
                <a:cs typeface="Consolas"/>
              </a:rPr>
              <a:t>Review the assertions and expected results.</a:t>
            </a:r>
          </a:p>
          <a:p>
            <a:pPr algn="l">
              <a:lnSpc>
                <a:spcPct val="112000"/>
              </a:lnSpc>
              <a:spcBef>
                <a:spcPts val="0"/>
              </a:spcBef>
              <a:buNone/>
            </a:pPr>
            <a:r>
              <a:rPr lang="en-US" sz="1700" b="0" dirty="0">
                <a:solidFill>
                  <a:srgbClr val="F1F5F9"/>
                </a:solidFill>
                <a:latin typeface="Consolas"/>
                <a:cs typeface="Consolas"/>
              </a:rPr>
              <a:t>Identify missing positive, negative, and boundary test scenarios.</a:t>
            </a:r>
          </a:p>
          <a:p>
            <a:pPr algn="l">
              <a:lnSpc>
                <a:spcPct val="112000"/>
              </a:lnSpc>
              <a:spcBef>
                <a:spcPts val="0"/>
              </a:spcBef>
              <a:buNone/>
            </a:pPr>
            <a:r>
              <a:rPr lang="en-US" sz="1700" b="0" dirty="0">
                <a:solidFill>
                  <a:srgbClr val="F1F5F9"/>
                </a:solidFill>
                <a:latin typeface="Consolas"/>
                <a:cs typeface="Consolas"/>
              </a:rPr>
              <a:t>Check test reliability and Playwright best practices.</a:t>
            </a:r>
          </a:p>
          <a:p>
            <a:pPr algn="l">
              <a:lnSpc>
                <a:spcPct val="112000"/>
              </a:lnSpc>
              <a:spcBef>
                <a:spcPts val="0"/>
              </a:spcBef>
              <a:buNone/>
            </a:pPr>
            <a:r>
              <a:rPr lang="en-US" sz="1700" b="0" dirty="0">
                <a:solidFill>
                  <a:srgbClr val="F1F5F9"/>
                </a:solidFill>
                <a:latin typeface="Consolas"/>
                <a:cs typeface="Consolas"/>
              </a:rPr>
              <a:t>Suggest improvements with examples.</a:t>
            </a:r>
          </a:p>
          <a:p>
            <a:pPr algn="l">
              <a:lnSpc>
                <a:spcPct val="112000"/>
              </a:lnSpc>
              <a:spcBef>
                <a:spcPts val="0"/>
              </a:spcBef>
              <a:buNone/>
            </a:pPr>
            <a:r>
              <a:rPr lang="en-US" sz="1700" b="0" dirty="0">
                <a:solidFill>
                  <a:srgbClr val="F1F5F9"/>
                </a:solidFill>
                <a:latin typeface="Consolas"/>
                <a:cs typeface="Consolas"/>
              </a:rPr>
              <a:t>For every finding, explain the issue, its risk, and the recommended improvement.</a:t>
            </a:r>
          </a:p>
          <a:p>
            <a:pPr algn="l">
              <a:lnSpc>
                <a:spcPct val="112000"/>
              </a:lnSpc>
              <a:spcBef>
                <a:spcPts val="0"/>
              </a:spcBef>
              <a:buNone/>
            </a:pPr>
            <a:r>
              <a:rPr lang="en-US" sz="1700" b="0" dirty="0">
                <a:solidFill>
                  <a:srgbClr val="FCD34D"/>
                </a:solidFill>
                <a:latin typeface="Consolas"/>
                <a:cs typeface="Consolas"/>
              </a:rPr>
              <a:t>Do not modify any files or run the tests.</a:t>
            </a:r>
          </a:p>
          <a:p>
            <a:pPr algn="l">
              <a:lnSpc>
                <a:spcPct val="112000"/>
              </a:lnSpc>
              <a:spcBef>
                <a:spcPts val="0"/>
              </a:spcBef>
              <a:buNone/>
            </a:pPr>
            <a:r>
              <a:rPr lang="en-US" sz="1700" b="0" dirty="0">
                <a:solidFill>
                  <a:srgbClr val="FCD34D"/>
                </a:solidFill>
                <a:latin typeface="Consolas"/>
                <a:cs typeface="Consolas"/>
              </a:rPr>
              <a:t>Do not assume requirements that are not provided.</a:t>
            </a:r>
          </a:p>
          <a:p>
            <a:pPr algn="l">
              <a:lnSpc>
                <a:spcPct val="112000"/>
              </a:lnSpc>
              <a:spcBef>
                <a:spcPts val="0"/>
              </a:spcBef>
              <a:buNone/>
            </a:pPr>
            <a:r>
              <a:rPr lang="en-US" sz="1700" b="0" dirty="0">
                <a:solidFill>
                  <a:srgbClr val="FCD34D"/>
                </a:solidFill>
                <a:latin typeface="Consolas"/>
                <a:cs typeface="Consolas"/>
              </a:rPr>
              <a:t>Explain your findings in simple English.</a:t>
            </a:r>
          </a:p>
        </p:txBody>
      </p:sp>
      <p:sp>
        <p:nvSpPr>
          <p:cNvPr id="20" name="Shape 20"/>
          <p:cNvSpPr/>
          <p:nvPr/>
        </p:nvSpPr>
        <p:spPr>
          <a:xfrm>
            <a:off x="609600" y="5588000"/>
            <a:ext cx="1905000" cy="431800"/>
          </a:xfrm>
          <a:prstGeom prst="roundRect">
            <a:avLst>
              <a:gd name="adj" fmla="val 50000"/>
            </a:avLst>
          </a:prstGeom>
          <a:solidFill>
            <a:srgbClr val="13294B"/>
          </a:solidFill>
          <a:ln>
            <a:noFill/>
          </a:ln>
        </p:spPr>
        <p:txBody>
          <a:bodyPr wrap="square" lIns="152400" tIns="0" rIns="152400" bIns="0" rtlCol="0" anchor="ctr">
            <a:noAutofit/>
          </a:bodyPr>
          <a:lstStyle/>
          <a:p>
            <a:pPr algn="ctr">
              <a:spcBef>
                <a:spcPts val="0"/>
              </a:spcBef>
              <a:buNone/>
            </a:pPr>
            <a:r>
              <a:rPr lang="en-US" sz="1400" b="1" dirty="0">
                <a:solidFill>
                  <a:srgbClr val="60A5FA"/>
                </a:solidFill>
              </a:rPr>
              <a:t>Role  </a:t>
            </a:r>
            <a:r>
              <a:rPr lang="en-US" sz="1400" b="0" dirty="0">
                <a:solidFill>
                  <a:srgbClr val="CBD5E1"/>
                </a:solidFill>
              </a:rPr>
              <a:t>line 1</a:t>
            </a:r>
          </a:p>
        </p:txBody>
      </p:sp>
      <p:sp>
        <p:nvSpPr>
          <p:cNvPr id="21" name="Shape 21"/>
          <p:cNvSpPr/>
          <p:nvPr/>
        </p:nvSpPr>
        <p:spPr>
          <a:xfrm>
            <a:off x="2667000" y="5588000"/>
            <a:ext cx="2667000" cy="431800"/>
          </a:xfrm>
          <a:prstGeom prst="roundRect">
            <a:avLst>
              <a:gd name="adj" fmla="val 50000"/>
            </a:avLst>
          </a:prstGeom>
          <a:solidFill>
            <a:srgbClr val="13294B"/>
          </a:solidFill>
          <a:ln>
            <a:noFill/>
          </a:ln>
        </p:spPr>
        <p:txBody>
          <a:bodyPr wrap="square" lIns="152400" tIns="0" rIns="152400" bIns="0" rtlCol="0" anchor="ctr">
            <a:noAutofit/>
          </a:bodyPr>
          <a:lstStyle/>
          <a:p>
            <a:pPr algn="ctr">
              <a:spcBef>
                <a:spcPts val="0"/>
              </a:spcBef>
              <a:buNone/>
            </a:pPr>
            <a:r>
              <a:rPr lang="en-US" sz="1400" b="1" dirty="0">
                <a:solidFill>
                  <a:srgbClr val="FFFFFF"/>
                </a:solidFill>
              </a:rPr>
              <a:t>What to review  </a:t>
            </a:r>
            <a:r>
              <a:rPr lang="en-US" sz="1400" b="0" dirty="0">
                <a:solidFill>
                  <a:srgbClr val="CBD5E1"/>
                </a:solidFill>
              </a:rPr>
              <a:t>lines 2–8</a:t>
            </a:r>
          </a:p>
        </p:txBody>
      </p:sp>
      <p:sp>
        <p:nvSpPr>
          <p:cNvPr id="22" name="Shape 22"/>
          <p:cNvSpPr/>
          <p:nvPr/>
        </p:nvSpPr>
        <p:spPr>
          <a:xfrm>
            <a:off x="5486400" y="5588000"/>
            <a:ext cx="2413000" cy="431800"/>
          </a:xfrm>
          <a:prstGeom prst="roundRect">
            <a:avLst>
              <a:gd name="adj" fmla="val 50000"/>
            </a:avLst>
          </a:prstGeom>
          <a:solidFill>
            <a:srgbClr val="13294B"/>
          </a:solidFill>
          <a:ln>
            <a:noFill/>
          </a:ln>
        </p:spPr>
        <p:txBody>
          <a:bodyPr wrap="square" lIns="152400" tIns="0" rIns="152400" bIns="0" rtlCol="0" anchor="ctr">
            <a:noAutofit/>
          </a:bodyPr>
          <a:lstStyle/>
          <a:p>
            <a:pPr algn="ctr">
              <a:spcBef>
                <a:spcPts val="0"/>
              </a:spcBef>
              <a:buNone/>
            </a:pPr>
            <a:r>
              <a:rPr lang="en-US" sz="1400" b="1" dirty="0">
                <a:solidFill>
                  <a:srgbClr val="FCD34D"/>
                </a:solidFill>
              </a:rPr>
              <a:t>Guardrails  </a:t>
            </a:r>
            <a:r>
              <a:rPr lang="en-US" sz="1400" b="0" dirty="0">
                <a:solidFill>
                  <a:srgbClr val="CBD5E1"/>
                </a:solidFill>
              </a:rPr>
              <a:t>lines 9–11</a:t>
            </a:r>
          </a:p>
        </p:txBody>
      </p:sp>
      <p:sp>
        <p:nvSpPr>
          <p:cNvPr id="30" name="Shape 30"/>
          <p:cNvSpPr txBox="1"/>
          <p:nvPr/>
        </p:nvSpPr>
        <p:spPr>
          <a:xfrm>
            <a:off x="8153400" y="5588000"/>
            <a:ext cx="3429000" cy="431800"/>
          </a:xfrm>
          <a:prstGeom prst="rect">
            <a:avLst/>
          </a:prstGeom>
          <a:noFill/>
          <a:ln>
            <a:noFill/>
          </a:ln>
        </p:spPr>
        <p:txBody>
          <a:bodyPr wrap="square" lIns="0" tIns="0" rIns="0" bIns="0" rtlCol="0" anchor="ctr">
            <a:noAutofit/>
          </a:bodyPr>
          <a:lstStyle/>
          <a:p>
            <a:pPr algn="l">
              <a:spcBef>
                <a:spcPts val="0"/>
              </a:spcBef>
              <a:buNone/>
            </a:pPr>
            <a:r>
              <a:rPr lang="en-US" sz="1400" b="0" dirty="0">
                <a:solidFill>
                  <a:srgbClr val="475569"/>
                </a:solidFill>
              </a:rPr>
              <a:t>Guardrails keep it a review only.</a:t>
            </a:r>
          </a:p>
        </p:txBody>
      </p:sp>
    </p:spTree>
    <p:extLst>
      <p:ext uri="{BB962C8B-B14F-4D97-AF65-F5344CB8AC3E}">
        <p14:creationId xmlns:p14="http://schemas.microsoft.com/office/powerpoint/2010/main" val="3550986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DAA7B-B8E7-E70D-20E2-74D0D0FD2E6E}"/>
              </a:ext>
            </a:extLst>
          </p:cNvPr>
          <p:cNvSpPr>
            <a:spLocks noGrp="1"/>
          </p:cNvSpPr>
          <p:nvPr>
            <p:ph type="title"/>
          </p:nvPr>
        </p:nvSpPr>
        <p:spPr>
          <a:xfrm>
            <a:off x="609600" y="304800"/>
            <a:ext cx="10972800" cy="914400"/>
          </a:xfrm>
        </p:spPr>
        <p:txBody>
          <a:bodyPr/>
          <a:lstStyle/>
          <a:p>
            <a:pPr algn="l">
              <a:spcBef>
                <a:spcPts val="0"/>
              </a:spcBef>
              <a:buNone/>
            </a:pPr>
            <a:r>
              <a:rPr lang="en-US" sz="3200" b="1" dirty="0">
                <a:solidFill>
                  <a:srgbClr val="0B1B33"/>
                </a:solidFill>
              </a:rPr>
              <a:t>Review Copilot’s response</a:t>
            </a:r>
          </a:p>
        </p:txBody>
      </p:sp>
      <p:sp>
        <p:nvSpPr>
          <p:cNvPr id="10" name="Shape 10"/>
          <p:cNvSpPr txBox="1"/>
          <p:nvPr/>
        </p:nvSpPr>
        <p:spPr>
          <a:xfrm>
            <a:off x="609600" y="1320800"/>
            <a:ext cx="5334000" cy="304800"/>
          </a:xfrm>
          <a:prstGeom prst="rect">
            <a:avLst/>
          </a:prstGeom>
          <a:noFill/>
          <a:ln>
            <a:noFill/>
          </a:ln>
        </p:spPr>
        <p:txBody>
          <a:bodyPr wrap="square" lIns="0" tIns="0" rIns="0" bIns="0" rtlCol="0" anchor="t">
            <a:noAutofit/>
          </a:bodyPr>
          <a:lstStyle/>
          <a:p>
            <a:pPr algn="l">
              <a:spcBef>
                <a:spcPts val="0"/>
              </a:spcBef>
              <a:buNone/>
            </a:pPr>
            <a:r>
              <a:rPr lang="en-US" sz="1400" b="1" dirty="0">
                <a:solidFill>
                  <a:srgbClr val="64748B"/>
                </a:solidFill>
              </a:rPr>
              <a:t>ASK FIVE QUESTIONS ABOUT EVERY FINDING</a:t>
            </a:r>
          </a:p>
        </p:txBody>
      </p:sp>
      <p:sp>
        <p:nvSpPr>
          <p:cNvPr id="20" name="Shape 20"/>
          <p:cNvSpPr/>
          <p:nvPr/>
        </p:nvSpPr>
        <p:spPr>
          <a:xfrm>
            <a:off x="609600" y="1727200"/>
            <a:ext cx="5334000" cy="711200"/>
          </a:xfrm>
          <a:prstGeom prst="roundRect">
            <a:avLst>
              <a:gd name="adj" fmla="val 10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30" name="Shape 30"/>
          <p:cNvSpPr/>
          <p:nvPr/>
        </p:nvSpPr>
        <p:spPr>
          <a:xfrm>
            <a:off x="762000" y="1879600"/>
            <a:ext cx="406400" cy="406400"/>
          </a:xfrm>
          <a:prstGeom prst="ellipse">
            <a:avLst/>
          </a:prstGeom>
          <a:solidFill>
            <a:srgbClr val="2563EB"/>
          </a:solidFill>
          <a:ln>
            <a:noFill/>
          </a:ln>
        </p:spPr>
        <p:txBody>
          <a:bodyPr wrap="square" lIns="0" tIns="0" rIns="0" bIns="0" rtlCol="0" anchor="ctr">
            <a:noAutofit/>
          </a:bodyPr>
          <a:lstStyle/>
          <a:p>
            <a:pPr algn="ctr">
              <a:spcBef>
                <a:spcPts val="0"/>
              </a:spcBef>
              <a:buNone/>
            </a:pPr>
            <a:r>
              <a:rPr lang="en-US" sz="1500" b="1" dirty="0">
                <a:solidFill>
                  <a:srgbClr val="FFFFFF"/>
                </a:solidFill>
              </a:rPr>
              <a:t>1</a:t>
            </a:r>
          </a:p>
        </p:txBody>
      </p:sp>
      <p:sp>
        <p:nvSpPr>
          <p:cNvPr id="40" name="Shape 40"/>
          <p:cNvSpPr txBox="1"/>
          <p:nvPr/>
        </p:nvSpPr>
        <p:spPr>
          <a:xfrm>
            <a:off x="1320800" y="1778000"/>
            <a:ext cx="4521200" cy="609600"/>
          </a:xfrm>
          <a:prstGeom prst="rect">
            <a:avLst/>
          </a:prstGeom>
          <a:noFill/>
          <a:ln>
            <a:noFill/>
          </a:ln>
        </p:spPr>
        <p:txBody>
          <a:bodyPr wrap="square" lIns="0" tIns="0" rIns="0" bIns="0" rtlCol="0" anchor="ctr">
            <a:noAutofit/>
          </a:bodyPr>
          <a:lstStyle/>
          <a:p>
            <a:pPr algn="l">
              <a:spcBef>
                <a:spcPts val="0"/>
              </a:spcBef>
              <a:buNone/>
            </a:pPr>
            <a:r>
              <a:rPr lang="en-US" sz="1600" b="0" dirty="0">
                <a:solidFill>
                  <a:srgbClr val="0B1B33"/>
                </a:solidFill>
              </a:rPr>
              <a:t>Confirmed defect, or only a potential risk?</a:t>
            </a:r>
          </a:p>
        </p:txBody>
      </p:sp>
      <p:sp>
        <p:nvSpPr>
          <p:cNvPr id="21" name="Shape 21"/>
          <p:cNvSpPr/>
          <p:nvPr/>
        </p:nvSpPr>
        <p:spPr>
          <a:xfrm>
            <a:off x="609600" y="2590800"/>
            <a:ext cx="5334000" cy="711200"/>
          </a:xfrm>
          <a:prstGeom prst="roundRect">
            <a:avLst>
              <a:gd name="adj" fmla="val 10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31" name="Shape 31"/>
          <p:cNvSpPr/>
          <p:nvPr/>
        </p:nvSpPr>
        <p:spPr>
          <a:xfrm>
            <a:off x="762000" y="2743200"/>
            <a:ext cx="406400" cy="406400"/>
          </a:xfrm>
          <a:prstGeom prst="ellipse">
            <a:avLst/>
          </a:prstGeom>
          <a:solidFill>
            <a:srgbClr val="2563EB"/>
          </a:solidFill>
          <a:ln>
            <a:noFill/>
          </a:ln>
        </p:spPr>
        <p:txBody>
          <a:bodyPr wrap="square" lIns="0" tIns="0" rIns="0" bIns="0" rtlCol="0" anchor="ctr">
            <a:noAutofit/>
          </a:bodyPr>
          <a:lstStyle/>
          <a:p>
            <a:pPr algn="ctr">
              <a:spcBef>
                <a:spcPts val="0"/>
              </a:spcBef>
              <a:buNone/>
            </a:pPr>
            <a:r>
              <a:rPr lang="en-US" sz="1500" b="1" dirty="0">
                <a:solidFill>
                  <a:srgbClr val="FFFFFF"/>
                </a:solidFill>
              </a:rPr>
              <a:t>2</a:t>
            </a:r>
          </a:p>
        </p:txBody>
      </p:sp>
      <p:sp>
        <p:nvSpPr>
          <p:cNvPr id="41" name="Shape 41"/>
          <p:cNvSpPr txBox="1"/>
          <p:nvPr/>
        </p:nvSpPr>
        <p:spPr>
          <a:xfrm>
            <a:off x="1320800" y="2641600"/>
            <a:ext cx="4521200" cy="609600"/>
          </a:xfrm>
          <a:prstGeom prst="rect">
            <a:avLst/>
          </a:prstGeom>
          <a:noFill/>
          <a:ln>
            <a:noFill/>
          </a:ln>
        </p:spPr>
        <p:txBody>
          <a:bodyPr wrap="square" lIns="0" tIns="0" rIns="0" bIns="0" rtlCol="0" anchor="ctr">
            <a:noAutofit/>
          </a:bodyPr>
          <a:lstStyle/>
          <a:p>
            <a:pPr algn="l">
              <a:spcBef>
                <a:spcPts val="0"/>
              </a:spcBef>
              <a:buNone/>
            </a:pPr>
            <a:r>
              <a:rPr lang="en-US" sz="1600" b="0" dirty="0">
                <a:solidFill>
                  <a:srgbClr val="0B1B33"/>
                </a:solidFill>
              </a:rPr>
              <a:t>Is the expected behavior in the requirements?</a:t>
            </a:r>
          </a:p>
        </p:txBody>
      </p:sp>
      <p:sp>
        <p:nvSpPr>
          <p:cNvPr id="22" name="Shape 22"/>
          <p:cNvSpPr/>
          <p:nvPr/>
        </p:nvSpPr>
        <p:spPr>
          <a:xfrm>
            <a:off x="609600" y="3454400"/>
            <a:ext cx="5334000" cy="711200"/>
          </a:xfrm>
          <a:prstGeom prst="roundRect">
            <a:avLst>
              <a:gd name="adj" fmla="val 10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32" name="Shape 32"/>
          <p:cNvSpPr/>
          <p:nvPr/>
        </p:nvSpPr>
        <p:spPr>
          <a:xfrm>
            <a:off x="762000" y="3606800"/>
            <a:ext cx="406400" cy="406400"/>
          </a:xfrm>
          <a:prstGeom prst="ellipse">
            <a:avLst/>
          </a:prstGeom>
          <a:solidFill>
            <a:srgbClr val="2563EB"/>
          </a:solidFill>
          <a:ln>
            <a:noFill/>
          </a:ln>
        </p:spPr>
        <p:txBody>
          <a:bodyPr wrap="square" lIns="0" tIns="0" rIns="0" bIns="0" rtlCol="0" anchor="ctr">
            <a:noAutofit/>
          </a:bodyPr>
          <a:lstStyle/>
          <a:p>
            <a:pPr algn="ctr">
              <a:spcBef>
                <a:spcPts val="0"/>
              </a:spcBef>
              <a:buNone/>
            </a:pPr>
            <a:r>
              <a:rPr lang="en-US" sz="1500" b="1" dirty="0">
                <a:solidFill>
                  <a:srgbClr val="FFFFFF"/>
                </a:solidFill>
              </a:rPr>
              <a:t>3</a:t>
            </a:r>
          </a:p>
        </p:txBody>
      </p:sp>
      <p:sp>
        <p:nvSpPr>
          <p:cNvPr id="42" name="Shape 42"/>
          <p:cNvSpPr txBox="1"/>
          <p:nvPr/>
        </p:nvSpPr>
        <p:spPr>
          <a:xfrm>
            <a:off x="1320800" y="3505200"/>
            <a:ext cx="4521200" cy="609600"/>
          </a:xfrm>
          <a:prstGeom prst="rect">
            <a:avLst/>
          </a:prstGeom>
          <a:noFill/>
          <a:ln>
            <a:noFill/>
          </a:ln>
        </p:spPr>
        <p:txBody>
          <a:bodyPr wrap="square" lIns="0" tIns="0" rIns="0" bIns="0" rtlCol="0" anchor="ctr">
            <a:noAutofit/>
          </a:bodyPr>
          <a:lstStyle/>
          <a:p>
            <a:pPr algn="l">
              <a:spcBef>
                <a:spcPts val="0"/>
              </a:spcBef>
              <a:buNone/>
            </a:pPr>
            <a:r>
              <a:rPr lang="en-US" sz="1600" b="0" dirty="0">
                <a:solidFill>
                  <a:srgbClr val="0B1B33"/>
                </a:solidFill>
              </a:rPr>
              <a:t>Could the assertion fail for the wrong reason?</a:t>
            </a:r>
          </a:p>
        </p:txBody>
      </p:sp>
      <p:sp>
        <p:nvSpPr>
          <p:cNvPr id="23" name="Shape 23"/>
          <p:cNvSpPr/>
          <p:nvPr/>
        </p:nvSpPr>
        <p:spPr>
          <a:xfrm>
            <a:off x="609600" y="4318000"/>
            <a:ext cx="5334000" cy="711200"/>
          </a:xfrm>
          <a:prstGeom prst="roundRect">
            <a:avLst>
              <a:gd name="adj" fmla="val 10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33" name="Shape 33"/>
          <p:cNvSpPr/>
          <p:nvPr/>
        </p:nvSpPr>
        <p:spPr>
          <a:xfrm>
            <a:off x="762000" y="4470400"/>
            <a:ext cx="406400" cy="406400"/>
          </a:xfrm>
          <a:prstGeom prst="ellipse">
            <a:avLst/>
          </a:prstGeom>
          <a:solidFill>
            <a:srgbClr val="2563EB"/>
          </a:solidFill>
          <a:ln>
            <a:noFill/>
          </a:ln>
        </p:spPr>
        <p:txBody>
          <a:bodyPr wrap="square" lIns="0" tIns="0" rIns="0" bIns="0" rtlCol="0" anchor="ctr">
            <a:noAutofit/>
          </a:bodyPr>
          <a:lstStyle/>
          <a:p>
            <a:pPr algn="ctr">
              <a:spcBef>
                <a:spcPts val="0"/>
              </a:spcBef>
              <a:buNone/>
            </a:pPr>
            <a:r>
              <a:rPr lang="en-US" sz="1500" b="1" dirty="0">
                <a:solidFill>
                  <a:srgbClr val="FFFFFF"/>
                </a:solidFill>
              </a:rPr>
              <a:t>4</a:t>
            </a:r>
          </a:p>
        </p:txBody>
      </p:sp>
      <p:sp>
        <p:nvSpPr>
          <p:cNvPr id="43" name="Shape 43"/>
          <p:cNvSpPr txBox="1"/>
          <p:nvPr/>
        </p:nvSpPr>
        <p:spPr>
          <a:xfrm>
            <a:off x="1320800" y="4368800"/>
            <a:ext cx="4521200" cy="609600"/>
          </a:xfrm>
          <a:prstGeom prst="rect">
            <a:avLst/>
          </a:prstGeom>
          <a:noFill/>
          <a:ln>
            <a:noFill/>
          </a:ln>
        </p:spPr>
        <p:txBody>
          <a:bodyPr wrap="square" lIns="0" tIns="0" rIns="0" bIns="0" rtlCol="0" anchor="ctr">
            <a:noAutofit/>
          </a:bodyPr>
          <a:lstStyle/>
          <a:p>
            <a:pPr algn="l">
              <a:spcBef>
                <a:spcPts val="0"/>
              </a:spcBef>
              <a:buNone/>
            </a:pPr>
            <a:r>
              <a:rPr lang="en-US" sz="1600" b="0" dirty="0">
                <a:solidFill>
                  <a:srgbClr val="0B1B33"/>
                </a:solidFill>
              </a:rPr>
              <a:t>Are important scenarios still missing?</a:t>
            </a:r>
          </a:p>
        </p:txBody>
      </p:sp>
      <p:sp>
        <p:nvSpPr>
          <p:cNvPr id="24" name="Shape 24"/>
          <p:cNvSpPr/>
          <p:nvPr/>
        </p:nvSpPr>
        <p:spPr>
          <a:xfrm>
            <a:off x="609600" y="5181600"/>
            <a:ext cx="5334000" cy="711200"/>
          </a:xfrm>
          <a:prstGeom prst="roundRect">
            <a:avLst>
              <a:gd name="adj" fmla="val 10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34" name="Shape 34"/>
          <p:cNvSpPr/>
          <p:nvPr/>
        </p:nvSpPr>
        <p:spPr>
          <a:xfrm>
            <a:off x="762000" y="5334000"/>
            <a:ext cx="406400" cy="406400"/>
          </a:xfrm>
          <a:prstGeom prst="ellipse">
            <a:avLst/>
          </a:prstGeom>
          <a:solidFill>
            <a:srgbClr val="2563EB"/>
          </a:solidFill>
          <a:ln>
            <a:noFill/>
          </a:ln>
        </p:spPr>
        <p:txBody>
          <a:bodyPr wrap="square" lIns="0" tIns="0" rIns="0" bIns="0" rtlCol="0" anchor="ctr">
            <a:noAutofit/>
          </a:bodyPr>
          <a:lstStyle/>
          <a:p>
            <a:pPr algn="ctr">
              <a:spcBef>
                <a:spcPts val="0"/>
              </a:spcBef>
              <a:buNone/>
            </a:pPr>
            <a:r>
              <a:rPr lang="en-US" sz="1500" b="1" dirty="0">
                <a:solidFill>
                  <a:srgbClr val="FFFFFF"/>
                </a:solidFill>
              </a:rPr>
              <a:t>5</a:t>
            </a:r>
          </a:p>
        </p:txBody>
      </p:sp>
      <p:sp>
        <p:nvSpPr>
          <p:cNvPr id="44" name="Shape 44"/>
          <p:cNvSpPr txBox="1"/>
          <p:nvPr/>
        </p:nvSpPr>
        <p:spPr>
          <a:xfrm>
            <a:off x="1320800" y="5232400"/>
            <a:ext cx="4521200" cy="609600"/>
          </a:xfrm>
          <a:prstGeom prst="rect">
            <a:avLst/>
          </a:prstGeom>
          <a:noFill/>
          <a:ln>
            <a:noFill/>
          </a:ln>
        </p:spPr>
        <p:txBody>
          <a:bodyPr wrap="square" lIns="0" tIns="0" rIns="0" bIns="0" rtlCol="0" anchor="ctr">
            <a:noAutofit/>
          </a:bodyPr>
          <a:lstStyle/>
          <a:p>
            <a:pPr algn="l">
              <a:spcBef>
                <a:spcPts val="0"/>
              </a:spcBef>
              <a:buNone/>
            </a:pPr>
            <a:r>
              <a:rPr lang="en-US" sz="1600" b="0" dirty="0">
                <a:solidFill>
                  <a:srgbClr val="0B1B33"/>
                </a:solidFill>
              </a:rPr>
              <a:t>Does it follow Playwright best practices?</a:t>
            </a:r>
          </a:p>
        </p:txBody>
      </p:sp>
      <p:sp>
        <p:nvSpPr>
          <p:cNvPr id="50" name="Shape 50"/>
          <p:cNvSpPr/>
          <p:nvPr/>
        </p:nvSpPr>
        <p:spPr>
          <a:xfrm>
            <a:off x="6350000" y="1320800"/>
            <a:ext cx="5232400" cy="1625600"/>
          </a:xfrm>
          <a:prstGeom prst="roundRect">
            <a:avLst>
              <a:gd name="adj" fmla="val 5000"/>
            </a:avLst>
          </a:prstGeom>
          <a:solidFill>
            <a:srgbClr val="0B1B33"/>
          </a:solidFill>
          <a:ln>
            <a:noFill/>
          </a:ln>
        </p:spPr>
        <p:txBody>
          <a:bodyPr wrap="square" lIns="127000" tIns="76200" rIns="127000" bIns="76200" rtlCol="0" anchor="t">
            <a:noAutofit/>
          </a:bodyPr>
          <a:lstStyle/>
          <a:p>
            <a:endParaRPr lang="en-US" dirty="0"/>
          </a:p>
        </p:txBody>
      </p:sp>
      <p:sp>
        <p:nvSpPr>
          <p:cNvPr id="51" name="Shape 51"/>
          <p:cNvSpPr txBox="1"/>
          <p:nvPr/>
        </p:nvSpPr>
        <p:spPr>
          <a:xfrm>
            <a:off x="6578600" y="1473200"/>
            <a:ext cx="3175000" cy="279400"/>
          </a:xfrm>
          <a:prstGeom prst="rect">
            <a:avLst/>
          </a:prstGeom>
          <a:noFill/>
          <a:ln>
            <a:noFill/>
          </a:ln>
        </p:spPr>
        <p:txBody>
          <a:bodyPr wrap="square" lIns="0" tIns="0" rIns="0" bIns="0" rtlCol="0" anchor="t">
            <a:noAutofit/>
          </a:bodyPr>
          <a:lstStyle/>
          <a:p>
            <a:pPr algn="l">
              <a:spcBef>
                <a:spcPts val="0"/>
              </a:spcBef>
              <a:buNone/>
            </a:pPr>
            <a:r>
              <a:rPr lang="en-US" sz="1300" b="1" dirty="0">
                <a:solidFill>
                  <a:srgbClr val="60A5FA"/>
                </a:solidFill>
              </a:rPr>
              <a:t>COPILOT FINDING</a:t>
            </a:r>
          </a:p>
        </p:txBody>
      </p:sp>
      <p:sp>
        <p:nvSpPr>
          <p:cNvPr id="52" name="Shape 52"/>
          <p:cNvSpPr/>
          <p:nvPr/>
        </p:nvSpPr>
        <p:spPr>
          <a:xfrm>
            <a:off x="10033000" y="1473200"/>
            <a:ext cx="1371600" cy="279400"/>
          </a:xfrm>
          <a:prstGeom prst="roundRect">
            <a:avLst>
              <a:gd name="adj" fmla="val 50000"/>
            </a:avLst>
          </a:prstGeom>
          <a:solidFill>
            <a:srgbClr val="B45309"/>
          </a:solidFill>
          <a:ln>
            <a:noFill/>
          </a:ln>
        </p:spPr>
        <p:txBody>
          <a:bodyPr wrap="square" lIns="50800" tIns="0" rIns="50800" bIns="0" rtlCol="0" anchor="ctr">
            <a:noAutofit/>
          </a:bodyPr>
          <a:lstStyle/>
          <a:p>
            <a:pPr algn="ctr">
              <a:spcBef>
                <a:spcPts val="0"/>
              </a:spcBef>
              <a:buNone/>
            </a:pPr>
            <a:r>
              <a:rPr lang="en-US" sz="1100" b="1" dirty="0">
                <a:solidFill>
                  <a:srgbClr val="FFFFFF"/>
                </a:solidFill>
              </a:rPr>
              <a:t>ILLUSTRATIVE</a:t>
            </a:r>
          </a:p>
        </p:txBody>
      </p:sp>
      <p:sp>
        <p:nvSpPr>
          <p:cNvPr id="53" name="Shape 53"/>
          <p:cNvSpPr txBox="1"/>
          <p:nvPr/>
        </p:nvSpPr>
        <p:spPr>
          <a:xfrm>
            <a:off x="6578600" y="1803400"/>
            <a:ext cx="4826000" cy="1092200"/>
          </a:xfrm>
          <a:prstGeom prst="rect">
            <a:avLst/>
          </a:prstGeom>
          <a:noFill/>
          <a:ln>
            <a:noFill/>
          </a:ln>
        </p:spPr>
        <p:txBody>
          <a:bodyPr wrap="square" lIns="0" tIns="0" rIns="0" bIns="0" rtlCol="0" anchor="t">
            <a:noAutofit/>
          </a:bodyPr>
          <a:lstStyle/>
          <a:p>
            <a:pPr algn="l">
              <a:lnSpc>
                <a:spcPct val="108000"/>
              </a:lnSpc>
              <a:spcBef>
                <a:spcPts val="0"/>
              </a:spcBef>
              <a:buNone/>
            </a:pPr>
            <a:r>
              <a:rPr lang="en-US" sz="1500" b="0" i="1" dirty="0">
                <a:solidFill>
                  <a:srgbClr val="F1F5F9"/>
                </a:solidFill>
              </a:rPr>
              <a:t>“The test checks that total equals subtotal plus tax, but it never checks the tax amount. If tax were $0.00 or wrong, the test would still pass.”</a:t>
            </a:r>
          </a:p>
        </p:txBody>
      </p:sp>
      <p:sp>
        <p:nvSpPr>
          <p:cNvPr id="54" name="Shape 54"/>
          <p:cNvSpPr/>
          <p:nvPr/>
        </p:nvSpPr>
        <p:spPr>
          <a:xfrm>
            <a:off x="8813800" y="3022600"/>
            <a:ext cx="304800" cy="279400"/>
          </a:xfrm>
          <a:prstGeom prst="downArrow">
            <a:avLst/>
          </a:prstGeom>
          <a:solidFill>
            <a:srgbClr val="2563EB"/>
          </a:solidFill>
          <a:ln>
            <a:noFill/>
          </a:ln>
        </p:spPr>
        <p:txBody>
          <a:bodyPr wrap="square" lIns="0" tIns="0" rIns="0" bIns="0" rtlCol="0" anchor="t">
            <a:noAutofit/>
          </a:bodyPr>
          <a:lstStyle/>
          <a:p>
            <a:endParaRPr lang="en-US" dirty="0"/>
          </a:p>
        </p:txBody>
      </p:sp>
      <p:sp>
        <p:nvSpPr>
          <p:cNvPr id="60" name="Shape 60"/>
          <p:cNvSpPr/>
          <p:nvPr/>
        </p:nvSpPr>
        <p:spPr>
          <a:xfrm>
            <a:off x="6350000" y="3327400"/>
            <a:ext cx="5232400" cy="2565400"/>
          </a:xfrm>
          <a:prstGeom prst="roundRect">
            <a:avLst>
              <a:gd name="adj" fmla="val 5000"/>
            </a:avLst>
          </a:prstGeom>
          <a:solidFill>
            <a:srgbClr val="FFFFFF"/>
          </a:solidFill>
          <a:ln w="19050">
            <a:solidFill>
              <a:srgbClr val="2563EB"/>
            </a:solidFill>
          </a:ln>
        </p:spPr>
        <p:txBody>
          <a:bodyPr wrap="square" lIns="127000" tIns="76200" rIns="127000" bIns="76200" rtlCol="0" anchor="t">
            <a:noAutofit/>
          </a:bodyPr>
          <a:lstStyle/>
          <a:p>
            <a:endParaRPr lang="en-US" dirty="0"/>
          </a:p>
        </p:txBody>
      </p:sp>
      <p:sp>
        <p:nvSpPr>
          <p:cNvPr id="61" name="Shape 61"/>
          <p:cNvSpPr txBox="1"/>
          <p:nvPr/>
        </p:nvSpPr>
        <p:spPr>
          <a:xfrm>
            <a:off x="6578600" y="3479800"/>
            <a:ext cx="4826000" cy="279400"/>
          </a:xfrm>
          <a:prstGeom prst="rect">
            <a:avLst/>
          </a:prstGeom>
          <a:noFill/>
          <a:ln>
            <a:noFill/>
          </a:ln>
        </p:spPr>
        <p:txBody>
          <a:bodyPr wrap="square" lIns="0" tIns="0" rIns="0" bIns="0" rtlCol="0" anchor="t">
            <a:noAutofit/>
          </a:bodyPr>
          <a:lstStyle/>
          <a:p>
            <a:pPr algn="l">
              <a:spcBef>
                <a:spcPts val="0"/>
              </a:spcBef>
              <a:buNone/>
            </a:pPr>
            <a:r>
              <a:rPr lang="en-US" sz="1300" b="1" dirty="0">
                <a:solidFill>
                  <a:srgbClr val="2563EB"/>
                </a:solidFill>
              </a:rPr>
              <a:t>HOW THE QA ENGINEER VALIDATES IT</a:t>
            </a:r>
          </a:p>
        </p:txBody>
      </p:sp>
      <p:sp>
        <p:nvSpPr>
          <p:cNvPr id="62" name="Shape 62"/>
          <p:cNvSpPr txBox="1"/>
          <p:nvPr/>
        </p:nvSpPr>
        <p:spPr>
          <a:xfrm>
            <a:off x="6578600" y="3810000"/>
            <a:ext cx="4826000" cy="1422400"/>
          </a:xfrm>
          <a:prstGeom prst="rect">
            <a:avLst/>
          </a:prstGeom>
          <a:noFill/>
          <a:ln>
            <a:noFill/>
          </a:ln>
        </p:spPr>
        <p:txBody>
          <a:bodyPr wrap="square" lIns="0" tIns="0" rIns="0" bIns="0" rtlCol="0" anchor="t">
            <a:noAutofit/>
          </a:bodyPr>
          <a:lstStyle/>
          <a:p>
            <a:pPr marL="285750" indent="-285750" algn="l">
              <a:spcBef>
                <a:spcPts val="1100"/>
              </a:spcBef>
              <a:buClr>
                <a:srgbClr val="2563EB"/>
              </a:buClr>
              <a:buFont typeface="Arial"/>
              <a:buChar char="•"/>
            </a:pPr>
            <a:r>
              <a:rPr lang="en-US" sz="1500" b="1" dirty="0">
                <a:solidFill>
                  <a:srgbClr val="0B1B33"/>
                </a:solidFill>
              </a:rPr>
              <a:t>Requirements: </a:t>
            </a:r>
            <a:r>
              <a:rPr lang="en-US" sz="1500" b="0" dirty="0">
                <a:solidFill>
                  <a:srgbClr val="0B1B33"/>
                </a:solidFill>
              </a:rPr>
              <a:t>is there a tax rule?</a:t>
            </a:r>
          </a:p>
          <a:p>
            <a:pPr marL="285750" indent="-285750" algn="l">
              <a:spcBef>
                <a:spcPts val="1100"/>
              </a:spcBef>
              <a:buClr>
                <a:srgbClr val="2563EB"/>
              </a:buClr>
              <a:buFont typeface="Arial"/>
              <a:buChar char="•"/>
            </a:pPr>
            <a:r>
              <a:rPr lang="en-US" sz="1500" b="1" dirty="0">
                <a:solidFill>
                  <a:srgbClr val="0B1B33"/>
                </a:solidFill>
              </a:rPr>
              <a:t>Code check: </a:t>
            </a:r>
            <a:r>
              <a:rPr lang="en-US" sz="1500" b="0" dirty="0">
                <a:solidFill>
                  <a:srgbClr val="0B1B33"/>
                </a:solidFill>
              </a:rPr>
              <a:t>true, tax is never checked alone</a:t>
            </a:r>
          </a:p>
          <a:p>
            <a:pPr marL="285750" indent="-285750" algn="l">
              <a:spcBef>
                <a:spcPts val="1100"/>
              </a:spcBef>
              <a:buClr>
                <a:srgbClr val="2563EB"/>
              </a:buClr>
              <a:buFont typeface="Arial"/>
              <a:buChar char="•"/>
            </a:pPr>
            <a:r>
              <a:rPr lang="en-US" sz="1500" b="1" dirty="0">
                <a:solidFill>
                  <a:srgbClr val="0B1B33"/>
                </a:solidFill>
              </a:rPr>
              <a:t>Decision: </a:t>
            </a:r>
            <a:r>
              <a:rPr lang="en-US" sz="1500" b="0" dirty="0">
                <a:solidFill>
                  <a:srgbClr val="0B1B33"/>
                </a:solidFill>
              </a:rPr>
              <a:t>confirm the rule, then assert tax</a:t>
            </a:r>
          </a:p>
        </p:txBody>
      </p:sp>
      <p:sp>
        <p:nvSpPr>
          <p:cNvPr id="63" name="Shape 63"/>
          <p:cNvSpPr/>
          <p:nvPr/>
        </p:nvSpPr>
        <p:spPr>
          <a:xfrm>
            <a:off x="6578600" y="5384800"/>
            <a:ext cx="3810000" cy="355600"/>
          </a:xfrm>
          <a:prstGeom prst="roundRect">
            <a:avLst>
              <a:gd name="adj" fmla="val 50000"/>
            </a:avLst>
          </a:prstGeom>
          <a:solidFill>
            <a:srgbClr val="FEF3C7"/>
          </a:solidFill>
          <a:ln>
            <a:noFill/>
          </a:ln>
        </p:spPr>
        <p:txBody>
          <a:bodyPr wrap="square" lIns="127000" tIns="0" rIns="127000" bIns="0" rtlCol="0" anchor="ctr">
            <a:noAutofit/>
          </a:bodyPr>
          <a:lstStyle/>
          <a:p>
            <a:pPr algn="ctr">
              <a:spcBef>
                <a:spcPts val="0"/>
              </a:spcBef>
              <a:buNone/>
            </a:pPr>
            <a:r>
              <a:rPr lang="en-US" sz="1300" b="1" dirty="0">
                <a:solidFill>
                  <a:srgbClr val="92400E"/>
                </a:solidFill>
              </a:rPr>
              <a:t>Result: real test gap, not an app bug</a:t>
            </a:r>
          </a:p>
        </p:txBody>
      </p:sp>
    </p:spTree>
    <p:extLst>
      <p:ext uri="{BB962C8B-B14F-4D97-AF65-F5344CB8AC3E}">
        <p14:creationId xmlns:p14="http://schemas.microsoft.com/office/powerpoint/2010/main" val="3570903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9B8D0-0209-37D7-BE6C-9B091B54AF4D}"/>
              </a:ext>
            </a:extLst>
          </p:cNvPr>
          <p:cNvSpPr>
            <a:spLocks noGrp="1"/>
          </p:cNvSpPr>
          <p:nvPr>
            <p:ph type="title"/>
          </p:nvPr>
        </p:nvSpPr>
        <p:spPr>
          <a:xfrm>
            <a:off x="609600" y="304800"/>
            <a:ext cx="10972800" cy="914400"/>
          </a:xfrm>
        </p:spPr>
        <p:txBody>
          <a:bodyPr/>
          <a:lstStyle/>
          <a:p>
            <a:pPr algn="l">
              <a:spcBef>
                <a:spcPts val="0"/>
              </a:spcBef>
              <a:buNone/>
            </a:pPr>
            <a:r>
              <a:rPr lang="en-US" sz="3200" b="1" dirty="0">
                <a:solidFill>
                  <a:srgbClr val="0B1B33"/>
                </a:solidFill>
              </a:rPr>
              <a:t>Improve test coverage</a:t>
            </a:r>
          </a:p>
        </p:txBody>
      </p:sp>
      <p:graphicFrame>
        <p:nvGraphicFramePr>
          <p:cNvPr id="10" name="Coverage Table"/>
          <p:cNvGraphicFramePr>
            <a:graphicFrameLocks noGrp="1"/>
          </p:cNvGraphicFramePr>
          <p:nvPr>
            <p:extLst>
              <p:ext uri="{D42A27DB-BD31-4B8C-83A1-F6EECF244321}">
                <p14:modId xmlns:p14="http://schemas.microsoft.com/office/powerpoint/2010/main" val="3169319039"/>
              </p:ext>
            </p:extLst>
          </p:nvPr>
        </p:nvGraphicFramePr>
        <p:xfrm>
          <a:off x="609600" y="1371600"/>
          <a:ext cx="10972800" cy="3556000"/>
        </p:xfrm>
        <a:graphic>
          <a:graphicData uri="http://schemas.openxmlformats.org/drawingml/2006/table">
            <a:tbl>
              <a:tblPr firstRow="1"/>
              <a:tblGrid>
                <a:gridCol w="4064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3225800">
                  <a:extLst>
                    <a:ext uri="{9D8B030D-6E8A-4147-A177-3AD203B41FA5}">
                      <a16:colId xmlns:a16="http://schemas.microsoft.com/office/drawing/2014/main" val="20002"/>
                    </a:ext>
                  </a:extLst>
                </a:gridCol>
                <a:gridCol w="1778000">
                  <a:extLst>
                    <a:ext uri="{9D8B030D-6E8A-4147-A177-3AD203B41FA5}">
                      <a16:colId xmlns:a16="http://schemas.microsoft.com/office/drawing/2014/main" val="20003"/>
                    </a:ext>
                  </a:extLst>
                </a:gridCol>
              </a:tblGrid>
              <a:tr h="508000">
                <a:tc>
                  <a:txBody>
                    <a:bodyPr/>
                    <a:lstStyle/>
                    <a:p>
                      <a:pPr algn="l">
                        <a:spcBef>
                          <a:spcPts val="0"/>
                        </a:spcBef>
                        <a:buNone/>
                      </a:pPr>
                      <a:r>
                        <a:rPr lang="en-US" sz="1400" b="1" dirty="0">
                          <a:solidFill>
                            <a:srgbClr val="64748B"/>
                          </a:solidFill>
                        </a:rPr>
                        <a:t>Scenario</a:t>
                      </a:r>
                    </a:p>
                  </a:txBody>
                  <a:tcPr marL="101600" marR="101600" marT="76200" marB="76200" anchor="ctr">
                    <a:lnL w="0">
                      <a:noFill/>
                    </a:lnL>
                    <a:lnR w="0">
                      <a:noFill/>
                    </a:lnR>
                    <a:lnT w="0">
                      <a:noFill/>
                    </a:lnT>
                    <a:lnB w="15875">
                      <a:solidFill>
                        <a:srgbClr val="94A3B8"/>
                      </a:solidFill>
                    </a:lnB>
                    <a:noFill/>
                  </a:tcPr>
                </a:tc>
                <a:tc>
                  <a:txBody>
                    <a:bodyPr/>
                    <a:lstStyle/>
                    <a:p>
                      <a:pPr algn="l">
                        <a:spcBef>
                          <a:spcPts val="0"/>
                        </a:spcBef>
                        <a:buNone/>
                      </a:pPr>
                      <a:r>
                        <a:rPr lang="en-US" sz="1400" b="1" dirty="0">
                          <a:solidFill>
                            <a:srgbClr val="64748B"/>
                          </a:solidFill>
                        </a:rPr>
                        <a:t>Type</a:t>
                      </a:r>
                    </a:p>
                  </a:txBody>
                  <a:tcPr marL="101600" marR="101600" marT="76200" marB="76200" anchor="ctr">
                    <a:lnL w="0">
                      <a:noFill/>
                    </a:lnL>
                    <a:lnR w="0">
                      <a:noFill/>
                    </a:lnR>
                    <a:lnT w="0">
                      <a:noFill/>
                    </a:lnT>
                    <a:lnB w="15875">
                      <a:solidFill>
                        <a:srgbClr val="94A3B8"/>
                      </a:solidFill>
                    </a:lnB>
                    <a:noFill/>
                  </a:tcPr>
                </a:tc>
                <a:tc>
                  <a:txBody>
                    <a:bodyPr/>
                    <a:lstStyle/>
                    <a:p>
                      <a:pPr algn="l">
                        <a:spcBef>
                          <a:spcPts val="0"/>
                        </a:spcBef>
                        <a:buNone/>
                      </a:pPr>
                      <a:r>
                        <a:rPr lang="en-US" sz="1400" b="1" dirty="0">
                          <a:solidFill>
                            <a:srgbClr val="64748B"/>
                          </a:solidFill>
                        </a:rPr>
                        <a:t>What to check</a:t>
                      </a:r>
                    </a:p>
                  </a:txBody>
                  <a:tcPr marL="101600" marR="101600" marT="76200" marB="76200" anchor="ctr">
                    <a:lnL w="0">
                      <a:noFill/>
                    </a:lnL>
                    <a:lnR w="0">
                      <a:noFill/>
                    </a:lnR>
                    <a:lnT w="0">
                      <a:noFill/>
                    </a:lnT>
                    <a:lnB w="15875">
                      <a:solidFill>
                        <a:srgbClr val="94A3B8"/>
                      </a:solidFill>
                    </a:lnB>
                    <a:noFill/>
                  </a:tcPr>
                </a:tc>
                <a:tc>
                  <a:txBody>
                    <a:bodyPr/>
                    <a:lstStyle/>
                    <a:p>
                      <a:pPr algn="l">
                        <a:spcBef>
                          <a:spcPts val="0"/>
                        </a:spcBef>
                        <a:buNone/>
                      </a:pPr>
                      <a:r>
                        <a:rPr lang="en-US" sz="1400" b="1" dirty="0">
                          <a:solidFill>
                            <a:srgbClr val="64748B"/>
                          </a:solidFill>
                        </a:rPr>
                        <a:t>Status</a:t>
                      </a:r>
                    </a:p>
                  </a:txBody>
                  <a:tcPr marL="101600" marR="101600" marT="76200" marB="76200" anchor="ctr">
                    <a:lnL w="0">
                      <a:noFill/>
                    </a:lnL>
                    <a:lnR w="0">
                      <a:noFill/>
                    </a:lnR>
                    <a:lnT w="0">
                      <a:noFill/>
                    </a:lnT>
                    <a:lnB w="15875">
                      <a:solidFill>
                        <a:srgbClr val="94A3B8"/>
                      </a:solidFill>
                    </a:lnB>
                    <a:noFill/>
                  </a:tcPr>
                </a:tc>
                <a:extLst>
                  <a:ext uri="{0D108BD9-81ED-4DB2-BD59-A6C34878D82A}">
                    <a16:rowId xmlns:a16="http://schemas.microsoft.com/office/drawing/2014/main" val="10000"/>
                  </a:ext>
                </a:extLst>
              </a:tr>
              <a:tr h="508000">
                <a:tc>
                  <a:txBody>
                    <a:bodyPr/>
                    <a:lstStyle/>
                    <a:p>
                      <a:pPr algn="l">
                        <a:spcBef>
                          <a:spcPts val="0"/>
                        </a:spcBef>
                        <a:buNone/>
                      </a:pPr>
                      <a:r>
                        <a:rPr lang="en-US" sz="1500" b="1" dirty="0">
                          <a:solidFill>
                            <a:srgbClr val="0B1B33"/>
                          </a:solidFill>
                        </a:rPr>
                        <a:t>End-to-end order with confirmation</a:t>
                      </a:r>
                    </a:p>
                  </a:txBody>
                  <a:tcPr marL="101600" marR="101600" marT="76200" marB="76200" anchor="ctr">
                    <a:lnL w="0">
                      <a:noFill/>
                    </a:lnL>
                    <a:lnR w="0">
                      <a:noFill/>
                    </a:lnR>
                    <a:lnT w="15875" cap="flat" cmpd="sng" algn="ctr">
                      <a:solidFill>
                        <a:srgbClr val="94A3B8"/>
                      </a:solidFill>
                      <a:prstDash val="solid"/>
                      <a:round/>
                      <a:headEnd type="none" w="med" len="med"/>
                      <a:tailEnd type="none" w="med" len="med"/>
                    </a:lnT>
                    <a:lnB w="12700">
                      <a:solidFill>
                        <a:srgbClr val="E0E0E0"/>
                      </a:solidFill>
                    </a:lnB>
                    <a:noFill/>
                  </a:tcPr>
                </a:tc>
                <a:tc>
                  <a:txBody>
                    <a:bodyPr/>
                    <a:lstStyle/>
                    <a:p>
                      <a:pPr algn="l">
                        <a:spcBef>
                          <a:spcPts val="0"/>
                        </a:spcBef>
                        <a:buNone/>
                      </a:pPr>
                      <a:r>
                        <a:rPr lang="en-US" sz="1500" b="0" dirty="0">
                          <a:solidFill>
                            <a:srgbClr val="0B1B33"/>
                          </a:solidFill>
                        </a:rPr>
                        <a:t>Positive</a:t>
                      </a:r>
                    </a:p>
                  </a:txBody>
                  <a:tcPr marL="101600" marR="101600" marT="76200" marB="76200" anchor="ctr">
                    <a:lnL w="0">
                      <a:noFill/>
                    </a:lnL>
                    <a:lnR w="0">
                      <a:noFill/>
                    </a:lnR>
                    <a:lnT w="15875" cap="flat" cmpd="sng" algn="ctr">
                      <a:solidFill>
                        <a:srgbClr val="94A3B8"/>
                      </a:solidFill>
                      <a:prstDash val="solid"/>
                      <a:round/>
                      <a:headEnd type="none" w="med" len="med"/>
                      <a:tailEnd type="none" w="med" len="med"/>
                    </a:lnT>
                    <a:lnB w="12700">
                      <a:solidFill>
                        <a:srgbClr val="E0E0E0"/>
                      </a:solidFill>
                    </a:lnB>
                    <a:noFill/>
                  </a:tcPr>
                </a:tc>
                <a:tc>
                  <a:txBody>
                    <a:bodyPr/>
                    <a:lstStyle/>
                    <a:p>
                      <a:pPr algn="l">
                        <a:spcBef>
                          <a:spcPts val="0"/>
                        </a:spcBef>
                        <a:buNone/>
                      </a:pPr>
                      <a:r>
                        <a:rPr lang="en-US" sz="1500" b="0" dirty="0">
                          <a:solidFill>
                            <a:srgbClr val="0B1B33"/>
                          </a:solidFill>
                        </a:rPr>
                        <a:t>Subtotal, total, and complete page</a:t>
                      </a:r>
                    </a:p>
                  </a:txBody>
                  <a:tcPr marL="101600" marR="101600" marT="76200" marB="76200" anchor="ctr">
                    <a:lnL w="0">
                      <a:noFill/>
                    </a:lnL>
                    <a:lnR w="0">
                      <a:noFill/>
                    </a:lnR>
                    <a:lnT w="15875" cap="flat" cmpd="sng" algn="ctr">
                      <a:solidFill>
                        <a:srgbClr val="94A3B8"/>
                      </a:solidFill>
                      <a:prstDash val="solid"/>
                      <a:round/>
                      <a:headEnd type="none" w="med" len="med"/>
                      <a:tailEnd type="none" w="med" len="med"/>
                    </a:lnT>
                    <a:lnB w="12700">
                      <a:solidFill>
                        <a:srgbClr val="E0E0E0"/>
                      </a:solidFill>
                    </a:lnB>
                    <a:noFill/>
                  </a:tcPr>
                </a:tc>
                <a:tc>
                  <a:txBody>
                    <a:bodyPr/>
                    <a:lstStyle/>
                    <a:p>
                      <a:pPr algn="l">
                        <a:spcBef>
                          <a:spcPts val="0"/>
                        </a:spcBef>
                        <a:buNone/>
                      </a:pPr>
                      <a:r>
                        <a:rPr lang="en-US" sz="1500" b="1" dirty="0">
                          <a:solidFill>
                            <a:srgbClr val="15803D"/>
                          </a:solidFill>
                        </a:rPr>
                        <a:t>Covered</a:t>
                      </a:r>
                    </a:p>
                  </a:txBody>
                  <a:tcPr marL="101600" marR="101600" marT="76200" marB="76200" anchor="ctr">
                    <a:lnL w="0">
                      <a:noFill/>
                    </a:lnL>
                    <a:lnR w="0">
                      <a:noFill/>
                    </a:lnR>
                    <a:lnT w="15875" cap="flat" cmpd="sng" algn="ctr">
                      <a:solidFill>
                        <a:srgbClr val="94A3B8"/>
                      </a:solidFill>
                      <a:prstDash val="solid"/>
                      <a:round/>
                      <a:headEnd type="none" w="med" len="med"/>
                      <a:tailEnd type="none" w="med" len="med"/>
                    </a:lnT>
                    <a:lnB w="12700">
                      <a:solidFill>
                        <a:srgbClr val="E0E0E0"/>
                      </a:solidFill>
                    </a:lnB>
                    <a:noFill/>
                  </a:tcPr>
                </a:tc>
                <a:extLst>
                  <a:ext uri="{0D108BD9-81ED-4DB2-BD59-A6C34878D82A}">
                    <a16:rowId xmlns:a16="http://schemas.microsoft.com/office/drawing/2014/main" val="10001"/>
                  </a:ext>
                </a:extLst>
              </a:tr>
              <a:tr h="508000">
                <a:tc>
                  <a:txBody>
                    <a:bodyPr/>
                    <a:lstStyle/>
                    <a:p>
                      <a:pPr algn="l">
                        <a:spcBef>
                          <a:spcPts val="0"/>
                        </a:spcBef>
                        <a:buNone/>
                      </a:pPr>
                      <a:r>
                        <a:rPr lang="en-US" sz="1500" b="1" dirty="0">
                          <a:solidFill>
                            <a:srgbClr val="0B1B33"/>
                          </a:solidFill>
                        </a:rPr>
                        <a:t>First name is required</a:t>
                      </a:r>
                    </a:p>
                  </a:txBody>
                  <a:tcPr marL="101600" marR="101600" marT="76200" marB="7620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noFill/>
                  </a:tcPr>
                </a:tc>
                <a:tc>
                  <a:txBody>
                    <a:bodyPr/>
                    <a:lstStyle/>
                    <a:p>
                      <a:pPr algn="l">
                        <a:spcBef>
                          <a:spcPts val="0"/>
                        </a:spcBef>
                        <a:buNone/>
                      </a:pPr>
                      <a:r>
                        <a:rPr lang="en-US" sz="1500" b="0" dirty="0">
                          <a:solidFill>
                            <a:srgbClr val="0B1B33"/>
                          </a:solidFill>
                        </a:rPr>
                        <a:t>Negative</a:t>
                      </a:r>
                    </a:p>
                  </a:txBody>
                  <a:tcPr marL="101600" marR="101600" marT="76200" marB="7620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noFill/>
                  </a:tcPr>
                </a:tc>
                <a:tc>
                  <a:txBody>
                    <a:bodyPr/>
                    <a:lstStyle/>
                    <a:p>
                      <a:pPr algn="l">
                        <a:spcBef>
                          <a:spcPts val="0"/>
                        </a:spcBef>
                        <a:buNone/>
                      </a:pPr>
                      <a:r>
                        <a:rPr lang="en-US" sz="1500" b="0" dirty="0">
                          <a:solidFill>
                            <a:srgbClr val="0B1B33"/>
                          </a:solidFill>
                        </a:rPr>
                        <a:t>Error: First Name is required</a:t>
                      </a:r>
                    </a:p>
                  </a:txBody>
                  <a:tcPr marL="101600" marR="101600" marT="76200" marB="7620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noFill/>
                  </a:tcPr>
                </a:tc>
                <a:tc>
                  <a:txBody>
                    <a:bodyPr/>
                    <a:lstStyle/>
                    <a:p>
                      <a:pPr algn="l">
                        <a:spcBef>
                          <a:spcPts val="0"/>
                        </a:spcBef>
                        <a:buNone/>
                      </a:pPr>
                      <a:r>
                        <a:rPr lang="en-US" sz="1500" b="1" dirty="0">
                          <a:solidFill>
                            <a:srgbClr val="15803D"/>
                          </a:solidFill>
                        </a:rPr>
                        <a:t>Covered</a:t>
                      </a:r>
                    </a:p>
                  </a:txBody>
                  <a:tcPr marL="101600" marR="101600" marT="76200" marB="7620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noFill/>
                  </a:tcPr>
                </a:tc>
                <a:extLst>
                  <a:ext uri="{0D108BD9-81ED-4DB2-BD59-A6C34878D82A}">
                    <a16:rowId xmlns:a16="http://schemas.microsoft.com/office/drawing/2014/main" val="1990161008"/>
                  </a:ext>
                </a:extLst>
              </a:tr>
              <a:tr h="508000">
                <a:tc>
                  <a:txBody>
                    <a:bodyPr/>
                    <a:lstStyle/>
                    <a:p>
                      <a:pPr algn="l">
                        <a:spcBef>
                          <a:spcPts val="0"/>
                        </a:spcBef>
                        <a:buNone/>
                      </a:pPr>
                      <a:r>
                        <a:rPr lang="en-US" sz="1500" b="1" dirty="0">
                          <a:solidFill>
                            <a:srgbClr val="0B1B33"/>
                          </a:solidFill>
                        </a:rPr>
                        <a:t>Postal code is required</a:t>
                      </a:r>
                    </a:p>
                  </a:txBody>
                  <a:tcPr marL="101600" marR="101600" marT="76200" marB="7620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noFill/>
                  </a:tcPr>
                </a:tc>
                <a:tc>
                  <a:txBody>
                    <a:bodyPr/>
                    <a:lstStyle/>
                    <a:p>
                      <a:pPr algn="l">
                        <a:spcBef>
                          <a:spcPts val="0"/>
                        </a:spcBef>
                        <a:buNone/>
                      </a:pPr>
                      <a:r>
                        <a:rPr lang="en-US" sz="1500" b="0" dirty="0">
                          <a:solidFill>
                            <a:srgbClr val="0B1B33"/>
                          </a:solidFill>
                        </a:rPr>
                        <a:t>Negative</a:t>
                      </a:r>
                    </a:p>
                  </a:txBody>
                  <a:tcPr marL="101600" marR="101600" marT="76200" marB="7620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noFill/>
                  </a:tcPr>
                </a:tc>
                <a:tc>
                  <a:txBody>
                    <a:bodyPr/>
                    <a:lstStyle/>
                    <a:p>
                      <a:pPr algn="l">
                        <a:spcBef>
                          <a:spcPts val="0"/>
                        </a:spcBef>
                        <a:buNone/>
                      </a:pPr>
                      <a:r>
                        <a:rPr lang="en-US" sz="1500" b="0" dirty="0">
                          <a:solidFill>
                            <a:srgbClr val="0B1B33"/>
                          </a:solidFill>
                        </a:rPr>
                        <a:t>Error: Postal Code is required</a:t>
                      </a:r>
                    </a:p>
                  </a:txBody>
                  <a:tcPr marL="101600" marR="101600" marT="76200" marB="7620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noFill/>
                  </a:tcPr>
                </a:tc>
                <a:tc>
                  <a:txBody>
                    <a:bodyPr/>
                    <a:lstStyle/>
                    <a:p>
                      <a:pPr algn="l">
                        <a:spcBef>
                          <a:spcPts val="0"/>
                        </a:spcBef>
                        <a:buNone/>
                      </a:pPr>
                      <a:r>
                        <a:rPr lang="en-US" sz="1500" b="1" dirty="0">
                          <a:solidFill>
                            <a:srgbClr val="15803D"/>
                          </a:solidFill>
                        </a:rPr>
                        <a:t>Covered</a:t>
                      </a:r>
                    </a:p>
                  </a:txBody>
                  <a:tcPr marL="101600" marR="101600" marT="76200" marB="7620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noFill/>
                  </a:tcPr>
                </a:tc>
                <a:extLst>
                  <a:ext uri="{0D108BD9-81ED-4DB2-BD59-A6C34878D82A}">
                    <a16:rowId xmlns:a16="http://schemas.microsoft.com/office/drawing/2014/main" val="4039654024"/>
                  </a:ext>
                </a:extLst>
              </a:tr>
              <a:tr h="508000">
                <a:tc>
                  <a:txBody>
                    <a:bodyPr/>
                    <a:lstStyle/>
                    <a:p>
                      <a:pPr algn="l">
                        <a:spcBef>
                          <a:spcPts val="0"/>
                        </a:spcBef>
                        <a:buNone/>
                      </a:pPr>
                      <a:r>
                        <a:rPr lang="en-US" sz="1500" b="1" dirty="0">
                          <a:solidFill>
                            <a:srgbClr val="0B1B33"/>
                          </a:solidFill>
                        </a:rPr>
                        <a:t>Last name is required</a:t>
                      </a:r>
                    </a:p>
                  </a:txBody>
                  <a:tcPr marL="101600" marR="101600" marT="76200" marB="7620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FFFFF"/>
                    </a:solidFill>
                  </a:tcPr>
                </a:tc>
                <a:tc>
                  <a:txBody>
                    <a:bodyPr/>
                    <a:lstStyle/>
                    <a:p>
                      <a:pPr algn="l">
                        <a:spcBef>
                          <a:spcPts val="0"/>
                        </a:spcBef>
                        <a:buNone/>
                      </a:pPr>
                      <a:r>
                        <a:rPr lang="en-US" sz="1500" b="0" dirty="0">
                          <a:solidFill>
                            <a:srgbClr val="0B1B33"/>
                          </a:solidFill>
                        </a:rPr>
                        <a:t>Negative</a:t>
                      </a:r>
                    </a:p>
                  </a:txBody>
                  <a:tcPr marL="101600" marR="101600" marT="76200" marB="7620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FFFFF"/>
                    </a:solidFill>
                  </a:tcPr>
                </a:tc>
                <a:tc>
                  <a:txBody>
                    <a:bodyPr/>
                    <a:lstStyle/>
                    <a:p>
                      <a:pPr algn="l">
                        <a:spcBef>
                          <a:spcPts val="0"/>
                        </a:spcBef>
                        <a:buNone/>
                      </a:pPr>
                      <a:r>
                        <a:rPr lang="en-US" sz="1500" b="0" dirty="0">
                          <a:solidFill>
                            <a:srgbClr val="0B1B33"/>
                          </a:solidFill>
                        </a:rPr>
                        <a:t>Error shown; user stays on the form</a:t>
                      </a:r>
                    </a:p>
                  </a:txBody>
                  <a:tcPr marL="101600" marR="101600" marT="76200" marB="7620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FFFFF"/>
                    </a:solidFill>
                  </a:tcPr>
                </a:tc>
                <a:tc>
                  <a:txBody>
                    <a:bodyPr/>
                    <a:lstStyle/>
                    <a:p>
                      <a:pPr algn="l">
                        <a:spcBef>
                          <a:spcPts val="0"/>
                        </a:spcBef>
                        <a:buNone/>
                      </a:pPr>
                      <a:r>
                        <a:rPr lang="en-US" sz="1500" b="1" dirty="0">
                          <a:solidFill>
                            <a:srgbClr val="B45309"/>
                          </a:solidFill>
                        </a:rPr>
                        <a:t>Suggested</a:t>
                      </a:r>
                    </a:p>
                  </a:txBody>
                  <a:tcPr marL="101600" marR="101600" marT="76200" marB="7620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FFFFF"/>
                    </a:solidFill>
                  </a:tcPr>
                </a:tc>
                <a:extLst>
                  <a:ext uri="{0D108BD9-81ED-4DB2-BD59-A6C34878D82A}">
                    <a16:rowId xmlns:a16="http://schemas.microsoft.com/office/drawing/2014/main" val="10002"/>
                  </a:ext>
                </a:extLst>
              </a:tr>
              <a:tr h="508000">
                <a:tc>
                  <a:txBody>
                    <a:bodyPr/>
                    <a:lstStyle/>
                    <a:p>
                      <a:pPr algn="l">
                        <a:spcBef>
                          <a:spcPts val="0"/>
                        </a:spcBef>
                        <a:buNone/>
                      </a:pPr>
                      <a:r>
                        <a:rPr lang="en-US" sz="1500" b="1" dirty="0">
                          <a:solidFill>
                            <a:srgbClr val="0B1B33"/>
                          </a:solidFill>
                        </a:rPr>
                        <a:t>Tax amount is correct</a:t>
                      </a:r>
                    </a:p>
                  </a:txBody>
                  <a:tcPr marL="101600" marR="101600" marT="76200" marB="7620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FFFFF"/>
                    </a:solidFill>
                  </a:tcPr>
                </a:tc>
                <a:tc>
                  <a:txBody>
                    <a:bodyPr/>
                    <a:lstStyle/>
                    <a:p>
                      <a:pPr algn="l">
                        <a:spcBef>
                          <a:spcPts val="0"/>
                        </a:spcBef>
                        <a:buNone/>
                      </a:pPr>
                      <a:r>
                        <a:rPr lang="en-US" sz="1500" b="0" dirty="0">
                          <a:solidFill>
                            <a:srgbClr val="0B1B33"/>
                          </a:solidFill>
                        </a:rPr>
                        <a:t>Positive</a:t>
                      </a:r>
                    </a:p>
                  </a:txBody>
                  <a:tcPr marL="101600" marR="101600" marT="76200" marB="7620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FFFFF"/>
                    </a:solidFill>
                  </a:tcPr>
                </a:tc>
                <a:tc>
                  <a:txBody>
                    <a:bodyPr/>
                    <a:lstStyle/>
                    <a:p>
                      <a:pPr algn="l">
                        <a:spcBef>
                          <a:spcPts val="0"/>
                        </a:spcBef>
                        <a:buNone/>
                      </a:pPr>
                      <a:r>
                        <a:rPr lang="en-US" sz="1500" b="0" dirty="0">
                          <a:solidFill>
                            <a:srgbClr val="0B1B33"/>
                          </a:solidFill>
                        </a:rPr>
                        <a:t>Tax matches the documented rule</a:t>
                      </a:r>
                    </a:p>
                  </a:txBody>
                  <a:tcPr marL="101600" marR="101600" marT="76200" marB="7620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FFFFF"/>
                    </a:solidFill>
                  </a:tcPr>
                </a:tc>
                <a:tc>
                  <a:txBody>
                    <a:bodyPr/>
                    <a:lstStyle/>
                    <a:p>
                      <a:pPr algn="l">
                        <a:spcBef>
                          <a:spcPts val="0"/>
                        </a:spcBef>
                        <a:buNone/>
                      </a:pPr>
                      <a:r>
                        <a:rPr lang="en-US" sz="1500" b="1" dirty="0">
                          <a:solidFill>
                            <a:srgbClr val="B45309"/>
                          </a:solidFill>
                        </a:rPr>
                        <a:t>Suggested</a:t>
                      </a:r>
                    </a:p>
                  </a:txBody>
                  <a:tcPr marL="101600" marR="101600" marT="76200" marB="7620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FFFFF"/>
                    </a:solidFill>
                  </a:tcPr>
                </a:tc>
                <a:extLst>
                  <a:ext uri="{0D108BD9-81ED-4DB2-BD59-A6C34878D82A}">
                    <a16:rowId xmlns:a16="http://schemas.microsoft.com/office/drawing/2014/main" val="4075619698"/>
                  </a:ext>
                </a:extLst>
              </a:tr>
              <a:tr h="508000">
                <a:tc>
                  <a:txBody>
                    <a:bodyPr/>
                    <a:lstStyle/>
                    <a:p>
                      <a:pPr algn="l">
                        <a:spcBef>
                          <a:spcPts val="0"/>
                        </a:spcBef>
                        <a:buNone/>
                      </a:pPr>
                      <a:r>
                        <a:rPr lang="en-US" sz="1500" b="1" dirty="0">
                          <a:solidFill>
                            <a:srgbClr val="0B1B33"/>
                          </a:solidFill>
                        </a:rPr>
                        <a:t>Checkout with an empty cart</a:t>
                      </a:r>
                    </a:p>
                  </a:txBody>
                  <a:tcPr marL="101600" marR="101600" marT="76200" marB="7620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FFFFF"/>
                    </a:solidFill>
                  </a:tcPr>
                </a:tc>
                <a:tc>
                  <a:txBody>
                    <a:bodyPr/>
                    <a:lstStyle/>
                    <a:p>
                      <a:pPr algn="l">
                        <a:spcBef>
                          <a:spcPts val="0"/>
                        </a:spcBef>
                        <a:buNone/>
                      </a:pPr>
                      <a:r>
                        <a:rPr lang="en-US" sz="1500" b="0" dirty="0">
                          <a:solidFill>
                            <a:srgbClr val="0B1B33"/>
                          </a:solidFill>
                        </a:rPr>
                        <a:t>Boundary</a:t>
                      </a:r>
                    </a:p>
                  </a:txBody>
                  <a:tcPr marL="101600" marR="101600" marT="76200" marB="7620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FFFFF"/>
                    </a:solidFill>
                  </a:tcPr>
                </a:tc>
                <a:tc>
                  <a:txBody>
                    <a:bodyPr/>
                    <a:lstStyle/>
                    <a:p>
                      <a:pPr algn="l">
                        <a:spcBef>
                          <a:spcPts val="0"/>
                        </a:spcBef>
                        <a:buNone/>
                      </a:pPr>
                      <a:r>
                        <a:rPr lang="en-US" sz="1500" b="0" dirty="0">
                          <a:solidFill>
                            <a:srgbClr val="0B1B33"/>
                          </a:solidFill>
                        </a:rPr>
                        <a:t>Ask the product owner</a:t>
                      </a:r>
                    </a:p>
                  </a:txBody>
                  <a:tcPr marL="101600" marR="101600" marT="76200" marB="7620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FFFFF"/>
                    </a:solidFill>
                  </a:tcPr>
                </a:tc>
                <a:tc>
                  <a:txBody>
                    <a:bodyPr/>
                    <a:lstStyle/>
                    <a:p>
                      <a:pPr algn="l">
                        <a:spcBef>
                          <a:spcPts val="0"/>
                        </a:spcBef>
                        <a:buNone/>
                      </a:pPr>
                      <a:r>
                        <a:rPr lang="en-US" sz="1500" b="1" dirty="0">
                          <a:solidFill>
                            <a:srgbClr val="B45309"/>
                          </a:solidFill>
                        </a:rPr>
                        <a:t>Suggested</a:t>
                      </a:r>
                    </a:p>
                  </a:txBody>
                  <a:tcPr marL="101600" marR="101600" marT="76200" marB="76200" anchor="ctr">
                    <a:lnL w="0">
                      <a:noFill/>
                    </a:lnL>
                    <a:lnR w="0">
                      <a:noFill/>
                    </a:lnR>
                    <a:lnT w="12700" cap="flat" cmpd="sng" algn="ctr">
                      <a:solidFill>
                        <a:srgbClr val="E0E0E0"/>
                      </a:solidFill>
                      <a:prstDash val="solid"/>
                      <a:round/>
                      <a:headEnd type="none" w="med" len="med"/>
                      <a:tailEnd type="none" w="med" len="med"/>
                    </a:lnT>
                    <a:lnB w="12700">
                      <a:solidFill>
                        <a:srgbClr val="E0E0E0"/>
                      </a:solidFill>
                    </a:lnB>
                    <a:solidFill>
                      <a:srgbClr val="FFFFFF"/>
                    </a:solidFill>
                  </a:tcPr>
                </a:tc>
                <a:extLst>
                  <a:ext uri="{0D108BD9-81ED-4DB2-BD59-A6C34878D82A}">
                    <a16:rowId xmlns:a16="http://schemas.microsoft.com/office/drawing/2014/main" val="608127279"/>
                  </a:ext>
                </a:extLst>
              </a:tr>
            </a:tbl>
          </a:graphicData>
        </a:graphic>
      </p:graphicFrame>
      <p:sp>
        <p:nvSpPr>
          <p:cNvPr id="20" name="Shape 20"/>
          <p:cNvSpPr/>
          <p:nvPr/>
        </p:nvSpPr>
        <p:spPr>
          <a:xfrm>
            <a:off x="609600" y="5232400"/>
            <a:ext cx="10972800" cy="660400"/>
          </a:xfrm>
          <a:prstGeom prst="rect">
            <a:avLst/>
          </a:prstGeom>
          <a:solidFill>
            <a:srgbClr val="FEF3C7"/>
          </a:solidFill>
          <a:ln>
            <a:noFill/>
          </a:ln>
        </p:spPr>
        <p:txBody>
          <a:bodyPr wrap="square" lIns="203200" tIns="50800" rIns="203200" bIns="50800" rtlCol="0" anchor="ctr">
            <a:noAutofit/>
          </a:bodyPr>
          <a:lstStyle/>
          <a:p>
            <a:pPr algn="l">
              <a:lnSpc>
                <a:spcPct val="105000"/>
              </a:lnSpc>
              <a:spcBef>
                <a:spcPts val="0"/>
              </a:spcBef>
              <a:buNone/>
            </a:pPr>
            <a:r>
              <a:rPr lang="en-US" sz="1600" b="1" dirty="0">
                <a:solidFill>
                  <a:srgbClr val="78350F"/>
                </a:solidFill>
              </a:rPr>
              <a:t>Suggested is not the same as required. </a:t>
            </a:r>
            <a:r>
              <a:rPr lang="en-US" sz="1600" b="0" dirty="0">
                <a:solidFill>
                  <a:srgbClr val="78350F"/>
                </a:solidFill>
              </a:rPr>
              <a:t>Confirm each suggested scenario with the requirements or the product owner before you automate it.</a:t>
            </a:r>
          </a:p>
        </p:txBody>
      </p:sp>
      <p:sp>
        <p:nvSpPr>
          <p:cNvPr id="21" name="Shape 21"/>
          <p:cNvSpPr/>
          <p:nvPr/>
        </p:nvSpPr>
        <p:spPr>
          <a:xfrm>
            <a:off x="609600" y="5232400"/>
            <a:ext cx="63500" cy="660400"/>
          </a:xfrm>
          <a:prstGeom prst="rect">
            <a:avLst/>
          </a:prstGeom>
          <a:solidFill>
            <a:srgbClr val="D97706"/>
          </a:solidFill>
          <a:ln>
            <a:noFill/>
          </a:ln>
        </p:spPr>
        <p:txBody>
          <a:bodyPr wrap="square" lIns="0" tIns="0" rIns="0" bIns="0" rtlCol="0" anchor="t">
            <a:noAutofit/>
          </a:bodyPr>
          <a:lstStyle/>
          <a:p>
            <a:endParaRPr lang="en-US" dirty="0"/>
          </a:p>
        </p:txBody>
      </p:sp>
      <p:sp>
        <p:nvSpPr>
          <p:cNvPr id="22" name="Shape 22"/>
          <p:cNvSpPr txBox="1"/>
          <p:nvPr/>
        </p:nvSpPr>
        <p:spPr>
          <a:xfrm>
            <a:off x="609600" y="6070600"/>
            <a:ext cx="10972800" cy="279400"/>
          </a:xfrm>
          <a:prstGeom prst="rect">
            <a:avLst/>
          </a:prstGeom>
          <a:noFill/>
          <a:ln>
            <a:noFill/>
          </a:ln>
        </p:spPr>
        <p:txBody>
          <a:bodyPr wrap="square" lIns="0" tIns="0" rIns="0" bIns="0" rtlCol="0" anchor="t">
            <a:noAutofit/>
          </a:bodyPr>
          <a:lstStyle/>
          <a:p>
            <a:pPr algn="l">
              <a:spcBef>
                <a:spcPts val="0"/>
              </a:spcBef>
              <a:buNone/>
            </a:pPr>
            <a:r>
              <a:rPr lang="en-US" sz="1100" b="0" dirty="0">
                <a:solidFill>
                  <a:srgbClr val="64748B"/>
                </a:solidFill>
              </a:rPr>
              <a:t>Covered = already tested in checkout.spec.ts. Suggested = an idea from the review, not a confirmed requirement.</a:t>
            </a:r>
          </a:p>
        </p:txBody>
      </p:sp>
    </p:spTree>
    <p:extLst>
      <p:ext uri="{BB962C8B-B14F-4D97-AF65-F5344CB8AC3E}">
        <p14:creationId xmlns:p14="http://schemas.microsoft.com/office/powerpoint/2010/main" val="2061490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544A2-73AC-D8A1-3CB3-6399C333244F}"/>
              </a:ext>
            </a:extLst>
          </p:cNvPr>
          <p:cNvSpPr>
            <a:spLocks noGrp="1"/>
          </p:cNvSpPr>
          <p:nvPr>
            <p:ph type="title"/>
          </p:nvPr>
        </p:nvSpPr>
        <p:spPr>
          <a:xfrm>
            <a:off x="609600" y="304800"/>
            <a:ext cx="10972800" cy="914400"/>
          </a:xfrm>
        </p:spPr>
        <p:txBody>
          <a:bodyPr/>
          <a:lstStyle/>
          <a:p>
            <a:pPr algn="l">
              <a:spcBef>
                <a:spcPts val="0"/>
              </a:spcBef>
              <a:buNone/>
            </a:pPr>
            <a:r>
              <a:rPr lang="en-US" sz="3200" b="1" dirty="0">
                <a:solidFill>
                  <a:srgbClr val="0B1B33"/>
                </a:solidFill>
              </a:rPr>
              <a:t>Important limitations</a:t>
            </a:r>
          </a:p>
        </p:txBody>
      </p:sp>
      <p:sp>
        <p:nvSpPr>
          <p:cNvPr id="10" name="Shape 10"/>
          <p:cNvSpPr/>
          <p:nvPr/>
        </p:nvSpPr>
        <p:spPr>
          <a:xfrm>
            <a:off x="609600" y="1371600"/>
            <a:ext cx="3683000" cy="4775200"/>
          </a:xfrm>
          <a:prstGeom prst="roundRect">
            <a:avLst>
              <a:gd name="adj" fmla="val 4000"/>
            </a:avLst>
          </a:prstGeom>
          <a:solidFill>
            <a:srgbClr val="0B1B33"/>
          </a:solidFill>
          <a:ln>
            <a:noFill/>
          </a:ln>
        </p:spPr>
        <p:txBody>
          <a:bodyPr wrap="square" lIns="127000" tIns="76200" rIns="127000" bIns="76200" rtlCol="0" anchor="t">
            <a:noAutofit/>
          </a:bodyPr>
          <a:lstStyle/>
          <a:p>
            <a:endParaRPr lang="en-US" dirty="0"/>
          </a:p>
        </p:txBody>
      </p:sp>
      <p:sp>
        <p:nvSpPr>
          <p:cNvPr id="11" name="Shape 11"/>
          <p:cNvSpPr txBox="1"/>
          <p:nvPr/>
        </p:nvSpPr>
        <p:spPr>
          <a:xfrm>
            <a:off x="914400" y="1676400"/>
            <a:ext cx="3175000" cy="304800"/>
          </a:xfrm>
          <a:prstGeom prst="rect">
            <a:avLst/>
          </a:prstGeom>
          <a:noFill/>
          <a:ln>
            <a:noFill/>
          </a:ln>
        </p:spPr>
        <p:txBody>
          <a:bodyPr wrap="square" lIns="0" tIns="0" rIns="0" bIns="0" rtlCol="0" anchor="t">
            <a:noAutofit/>
          </a:bodyPr>
          <a:lstStyle/>
          <a:p>
            <a:pPr algn="l">
              <a:spcBef>
                <a:spcPts val="0"/>
              </a:spcBef>
              <a:buNone/>
            </a:pPr>
            <a:r>
              <a:rPr lang="en-US" sz="1400" b="1" dirty="0">
                <a:solidFill>
                  <a:srgbClr val="60A5FA"/>
                </a:solidFill>
              </a:rPr>
              <a:t>REMEMBER</a:t>
            </a:r>
          </a:p>
        </p:txBody>
      </p:sp>
      <p:sp>
        <p:nvSpPr>
          <p:cNvPr id="12" name="Shape 12"/>
          <p:cNvSpPr txBox="1"/>
          <p:nvPr/>
        </p:nvSpPr>
        <p:spPr>
          <a:xfrm>
            <a:off x="914400" y="1905000"/>
            <a:ext cx="3175000" cy="1143000"/>
          </a:xfrm>
          <a:prstGeom prst="rect">
            <a:avLst/>
          </a:prstGeom>
          <a:noFill/>
          <a:ln>
            <a:noFill/>
          </a:ln>
        </p:spPr>
        <p:txBody>
          <a:bodyPr wrap="square" lIns="0" tIns="0" rIns="0" bIns="0" rtlCol="0" anchor="t">
            <a:noAutofit/>
          </a:bodyPr>
          <a:lstStyle/>
          <a:p>
            <a:pPr algn="l">
              <a:lnSpc>
                <a:spcPct val="95000"/>
              </a:lnSpc>
              <a:spcBef>
                <a:spcPts val="0"/>
              </a:spcBef>
              <a:buNone/>
            </a:pPr>
            <a:r>
              <a:rPr lang="en-US" sz="3200" b="1" dirty="0">
                <a:solidFill>
                  <a:srgbClr val="FFFFFF"/>
                </a:solidFill>
              </a:rPr>
              <a:t>AI helps.</a:t>
            </a:r>
          </a:p>
          <a:p>
            <a:pPr algn="l">
              <a:lnSpc>
                <a:spcPct val="95000"/>
              </a:lnSpc>
              <a:spcBef>
                <a:spcPts val="0"/>
              </a:spcBef>
              <a:buNone/>
            </a:pPr>
            <a:r>
              <a:rPr lang="en-US" sz="3200" b="1" dirty="0">
                <a:solidFill>
                  <a:srgbClr val="60A5FA"/>
                </a:solidFill>
              </a:rPr>
              <a:t>You decide.</a:t>
            </a:r>
          </a:p>
        </p:txBody>
      </p:sp>
      <p:sp>
        <p:nvSpPr>
          <p:cNvPr id="13" name="Shape 13"/>
          <p:cNvSpPr txBox="1"/>
          <p:nvPr/>
        </p:nvSpPr>
        <p:spPr>
          <a:xfrm>
            <a:off x="914400" y="4978400"/>
            <a:ext cx="3175000" cy="914400"/>
          </a:xfrm>
          <a:prstGeom prst="rect">
            <a:avLst/>
          </a:prstGeom>
          <a:noFill/>
          <a:ln>
            <a:noFill/>
          </a:ln>
        </p:spPr>
        <p:txBody>
          <a:bodyPr wrap="square" lIns="0" tIns="0" rIns="0" bIns="0" rtlCol="0" anchor="t">
            <a:noAutofit/>
          </a:bodyPr>
          <a:lstStyle/>
          <a:p>
            <a:pPr algn="l">
              <a:lnSpc>
                <a:spcPct val="108000"/>
              </a:lnSpc>
              <a:spcBef>
                <a:spcPts val="0"/>
              </a:spcBef>
              <a:buNone/>
            </a:pPr>
            <a:r>
              <a:rPr lang="en-US" sz="1500" b="0" dirty="0">
                <a:solidFill>
                  <a:srgbClr val="CBD5E1"/>
                </a:solidFill>
              </a:rPr>
              <a:t>The QA Engineer stays responsible for every test that goes into the project.</a:t>
            </a:r>
          </a:p>
        </p:txBody>
      </p:sp>
      <p:sp>
        <p:nvSpPr>
          <p:cNvPr id="20" name="Shape 20"/>
          <p:cNvSpPr/>
          <p:nvPr/>
        </p:nvSpPr>
        <p:spPr>
          <a:xfrm>
            <a:off x="4597400" y="1371600"/>
            <a:ext cx="6985000" cy="812800"/>
          </a:xfrm>
          <a:prstGeom prst="roundRect">
            <a:avLst>
              <a:gd name="adj" fmla="val 8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30" name="Shape 30"/>
          <p:cNvSpPr/>
          <p:nvPr/>
        </p:nvSpPr>
        <p:spPr>
          <a:xfrm>
            <a:off x="4597400" y="1524000"/>
            <a:ext cx="63500" cy="508000"/>
          </a:xfrm>
          <a:prstGeom prst="rect">
            <a:avLst/>
          </a:prstGeom>
          <a:solidFill>
            <a:srgbClr val="D97706"/>
          </a:solidFill>
          <a:ln>
            <a:noFill/>
          </a:ln>
        </p:spPr>
        <p:txBody>
          <a:bodyPr wrap="square" lIns="0" tIns="0" rIns="0" bIns="0" rtlCol="0" anchor="t">
            <a:noAutofit/>
          </a:bodyPr>
          <a:lstStyle/>
          <a:p>
            <a:endParaRPr lang="en-US" dirty="0"/>
          </a:p>
        </p:txBody>
      </p:sp>
      <p:sp>
        <p:nvSpPr>
          <p:cNvPr id="40" name="Shape 40"/>
          <p:cNvSpPr txBox="1"/>
          <p:nvPr/>
        </p:nvSpPr>
        <p:spPr>
          <a:xfrm>
            <a:off x="4876800" y="1435100"/>
            <a:ext cx="6553200" cy="685800"/>
          </a:xfrm>
          <a:prstGeom prst="rect">
            <a:avLst/>
          </a:prstGeom>
          <a:noFill/>
          <a:ln>
            <a:noFill/>
          </a:ln>
        </p:spPr>
        <p:txBody>
          <a:bodyPr wrap="square" lIns="0" tIns="0" rIns="0" bIns="0" rtlCol="0" anchor="ctr">
            <a:noAutofit/>
          </a:bodyPr>
          <a:lstStyle/>
          <a:p>
            <a:pPr algn="l">
              <a:spcBef>
                <a:spcPts val="0"/>
              </a:spcBef>
              <a:buNone/>
            </a:pPr>
            <a:r>
              <a:rPr lang="en-US" sz="1700" b="1" dirty="0">
                <a:solidFill>
                  <a:srgbClr val="0B1B33"/>
                </a:solidFill>
              </a:rPr>
              <a:t>AI can make incorrect assumptions</a:t>
            </a:r>
          </a:p>
          <a:p>
            <a:pPr algn="l">
              <a:spcBef>
                <a:spcPts val="100"/>
              </a:spcBef>
              <a:buNone/>
            </a:pPr>
            <a:r>
              <a:rPr lang="en-US" sz="1500" b="0" dirty="0">
                <a:solidFill>
                  <a:srgbClr val="475569"/>
                </a:solidFill>
              </a:rPr>
              <a:t>It may guess rules your application does not have.</a:t>
            </a:r>
          </a:p>
        </p:txBody>
      </p:sp>
      <p:sp>
        <p:nvSpPr>
          <p:cNvPr id="21" name="Shape 21"/>
          <p:cNvSpPr/>
          <p:nvPr/>
        </p:nvSpPr>
        <p:spPr>
          <a:xfrm>
            <a:off x="4597400" y="2362200"/>
            <a:ext cx="6985000" cy="812800"/>
          </a:xfrm>
          <a:prstGeom prst="roundRect">
            <a:avLst>
              <a:gd name="adj" fmla="val 8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31" name="Shape 31"/>
          <p:cNvSpPr/>
          <p:nvPr/>
        </p:nvSpPr>
        <p:spPr>
          <a:xfrm>
            <a:off x="4597400" y="2514600"/>
            <a:ext cx="63500" cy="508000"/>
          </a:xfrm>
          <a:prstGeom prst="rect">
            <a:avLst/>
          </a:prstGeom>
          <a:solidFill>
            <a:srgbClr val="D97706"/>
          </a:solidFill>
          <a:ln>
            <a:noFill/>
          </a:ln>
        </p:spPr>
        <p:txBody>
          <a:bodyPr wrap="square" lIns="0" tIns="0" rIns="0" bIns="0" rtlCol="0" anchor="t">
            <a:noAutofit/>
          </a:bodyPr>
          <a:lstStyle/>
          <a:p>
            <a:endParaRPr lang="en-US" dirty="0"/>
          </a:p>
        </p:txBody>
      </p:sp>
      <p:sp>
        <p:nvSpPr>
          <p:cNvPr id="41" name="Shape 41"/>
          <p:cNvSpPr txBox="1"/>
          <p:nvPr/>
        </p:nvSpPr>
        <p:spPr>
          <a:xfrm>
            <a:off x="4876800" y="2425700"/>
            <a:ext cx="6553200" cy="685800"/>
          </a:xfrm>
          <a:prstGeom prst="rect">
            <a:avLst/>
          </a:prstGeom>
          <a:noFill/>
          <a:ln>
            <a:noFill/>
          </a:ln>
        </p:spPr>
        <p:txBody>
          <a:bodyPr wrap="square" lIns="0" tIns="0" rIns="0" bIns="0" rtlCol="0" anchor="ctr">
            <a:noAutofit/>
          </a:bodyPr>
          <a:lstStyle/>
          <a:p>
            <a:pPr algn="l">
              <a:spcBef>
                <a:spcPts val="0"/>
              </a:spcBef>
              <a:buNone/>
            </a:pPr>
            <a:r>
              <a:rPr lang="en-US" sz="1700" b="1" dirty="0">
                <a:solidFill>
                  <a:srgbClr val="0B1B33"/>
                </a:solidFill>
              </a:rPr>
              <a:t>Suggestions may not match business requirements</a:t>
            </a:r>
          </a:p>
          <a:p>
            <a:pPr algn="l">
              <a:spcBef>
                <a:spcPts val="100"/>
              </a:spcBef>
              <a:buNone/>
            </a:pPr>
            <a:r>
              <a:rPr lang="en-US" sz="1500" b="0" dirty="0">
                <a:solidFill>
                  <a:srgbClr val="475569"/>
                </a:solidFill>
              </a:rPr>
              <a:t>Check each one against the real requirements.</a:t>
            </a:r>
          </a:p>
        </p:txBody>
      </p:sp>
      <p:sp>
        <p:nvSpPr>
          <p:cNvPr id="22" name="Shape 22"/>
          <p:cNvSpPr/>
          <p:nvPr/>
        </p:nvSpPr>
        <p:spPr>
          <a:xfrm>
            <a:off x="4597400" y="3352800"/>
            <a:ext cx="6985000" cy="812800"/>
          </a:xfrm>
          <a:prstGeom prst="roundRect">
            <a:avLst>
              <a:gd name="adj" fmla="val 8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32" name="Shape 32"/>
          <p:cNvSpPr/>
          <p:nvPr/>
        </p:nvSpPr>
        <p:spPr>
          <a:xfrm>
            <a:off x="4597400" y="3505200"/>
            <a:ext cx="63500" cy="508000"/>
          </a:xfrm>
          <a:prstGeom prst="rect">
            <a:avLst/>
          </a:prstGeom>
          <a:solidFill>
            <a:srgbClr val="D97706"/>
          </a:solidFill>
          <a:ln>
            <a:noFill/>
          </a:ln>
        </p:spPr>
        <p:txBody>
          <a:bodyPr wrap="square" lIns="0" tIns="0" rIns="0" bIns="0" rtlCol="0" anchor="t">
            <a:noAutofit/>
          </a:bodyPr>
          <a:lstStyle/>
          <a:p>
            <a:endParaRPr lang="en-US" dirty="0"/>
          </a:p>
        </p:txBody>
      </p:sp>
      <p:sp>
        <p:nvSpPr>
          <p:cNvPr id="42" name="Shape 42"/>
          <p:cNvSpPr txBox="1"/>
          <p:nvPr/>
        </p:nvSpPr>
        <p:spPr>
          <a:xfrm>
            <a:off x="4876800" y="3416300"/>
            <a:ext cx="6553200" cy="685800"/>
          </a:xfrm>
          <a:prstGeom prst="rect">
            <a:avLst/>
          </a:prstGeom>
          <a:noFill/>
          <a:ln>
            <a:noFill/>
          </a:ln>
        </p:spPr>
        <p:txBody>
          <a:bodyPr wrap="square" lIns="0" tIns="0" rIns="0" bIns="0" rtlCol="0" anchor="ctr">
            <a:noAutofit/>
          </a:bodyPr>
          <a:lstStyle/>
          <a:p>
            <a:pPr algn="l">
              <a:spcBef>
                <a:spcPts val="0"/>
              </a:spcBef>
              <a:buNone/>
            </a:pPr>
            <a:r>
              <a:rPr lang="en-US" sz="1700" b="1" dirty="0">
                <a:solidFill>
                  <a:srgbClr val="0B1B33"/>
                </a:solidFill>
              </a:rPr>
              <a:t>Generated code must be reviewed</a:t>
            </a:r>
          </a:p>
          <a:p>
            <a:pPr algn="l">
              <a:spcBef>
                <a:spcPts val="100"/>
              </a:spcBef>
              <a:buNone/>
            </a:pPr>
            <a:r>
              <a:rPr lang="en-US" sz="1500" b="0" dirty="0">
                <a:solidFill>
                  <a:srgbClr val="475569"/>
                </a:solidFill>
              </a:rPr>
              <a:t>Read every line before you accept it.</a:t>
            </a:r>
          </a:p>
        </p:txBody>
      </p:sp>
      <p:sp>
        <p:nvSpPr>
          <p:cNvPr id="23" name="Shape 23"/>
          <p:cNvSpPr/>
          <p:nvPr/>
        </p:nvSpPr>
        <p:spPr>
          <a:xfrm>
            <a:off x="4597400" y="4343400"/>
            <a:ext cx="6985000" cy="812800"/>
          </a:xfrm>
          <a:prstGeom prst="roundRect">
            <a:avLst>
              <a:gd name="adj" fmla="val 8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33" name="Shape 33"/>
          <p:cNvSpPr/>
          <p:nvPr/>
        </p:nvSpPr>
        <p:spPr>
          <a:xfrm>
            <a:off x="4597400" y="4495800"/>
            <a:ext cx="63500" cy="508000"/>
          </a:xfrm>
          <a:prstGeom prst="rect">
            <a:avLst/>
          </a:prstGeom>
          <a:solidFill>
            <a:srgbClr val="D97706"/>
          </a:solidFill>
          <a:ln>
            <a:noFill/>
          </a:ln>
        </p:spPr>
        <p:txBody>
          <a:bodyPr wrap="square" lIns="0" tIns="0" rIns="0" bIns="0" rtlCol="0" anchor="t">
            <a:noAutofit/>
          </a:bodyPr>
          <a:lstStyle/>
          <a:p>
            <a:endParaRPr lang="en-US" dirty="0"/>
          </a:p>
        </p:txBody>
      </p:sp>
      <p:sp>
        <p:nvSpPr>
          <p:cNvPr id="43" name="Shape 43"/>
          <p:cNvSpPr txBox="1"/>
          <p:nvPr/>
        </p:nvSpPr>
        <p:spPr>
          <a:xfrm>
            <a:off x="4876800" y="4406900"/>
            <a:ext cx="6553200" cy="685800"/>
          </a:xfrm>
          <a:prstGeom prst="rect">
            <a:avLst/>
          </a:prstGeom>
          <a:noFill/>
          <a:ln>
            <a:noFill/>
          </a:ln>
        </p:spPr>
        <p:txBody>
          <a:bodyPr wrap="square" lIns="0" tIns="0" rIns="0" bIns="0" rtlCol="0" anchor="ctr">
            <a:noAutofit/>
          </a:bodyPr>
          <a:lstStyle/>
          <a:p>
            <a:pPr algn="l">
              <a:spcBef>
                <a:spcPts val="0"/>
              </a:spcBef>
              <a:buNone/>
            </a:pPr>
            <a:r>
              <a:rPr lang="en-US" sz="1700" b="1" dirty="0">
                <a:solidFill>
                  <a:srgbClr val="0B1B33"/>
                </a:solidFill>
              </a:rPr>
              <a:t>Tests must be run and results verified</a:t>
            </a:r>
          </a:p>
          <a:p>
            <a:pPr algn="l">
              <a:spcBef>
                <a:spcPts val="100"/>
              </a:spcBef>
              <a:buNone/>
            </a:pPr>
            <a:r>
              <a:rPr lang="en-US" sz="1500" b="0" dirty="0">
                <a:solidFill>
                  <a:srgbClr val="475569"/>
                </a:solidFill>
              </a:rPr>
              <a:t>A test is done only when it passes for the right reason.</a:t>
            </a:r>
          </a:p>
        </p:txBody>
      </p:sp>
      <p:sp>
        <p:nvSpPr>
          <p:cNvPr id="24" name="Shape 24"/>
          <p:cNvSpPr/>
          <p:nvPr/>
        </p:nvSpPr>
        <p:spPr>
          <a:xfrm>
            <a:off x="4597400" y="5334000"/>
            <a:ext cx="6985000" cy="812800"/>
          </a:xfrm>
          <a:prstGeom prst="roundRect">
            <a:avLst>
              <a:gd name="adj" fmla="val 8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34" name="Shape 34"/>
          <p:cNvSpPr/>
          <p:nvPr/>
        </p:nvSpPr>
        <p:spPr>
          <a:xfrm>
            <a:off x="4597400" y="5486400"/>
            <a:ext cx="63500" cy="508000"/>
          </a:xfrm>
          <a:prstGeom prst="rect">
            <a:avLst/>
          </a:prstGeom>
          <a:solidFill>
            <a:srgbClr val="D97706"/>
          </a:solidFill>
          <a:ln>
            <a:noFill/>
          </a:ln>
        </p:spPr>
        <p:txBody>
          <a:bodyPr wrap="square" lIns="0" tIns="0" rIns="0" bIns="0" rtlCol="0" anchor="t">
            <a:noAutofit/>
          </a:bodyPr>
          <a:lstStyle/>
          <a:p>
            <a:endParaRPr lang="en-US" dirty="0"/>
          </a:p>
        </p:txBody>
      </p:sp>
      <p:sp>
        <p:nvSpPr>
          <p:cNvPr id="44" name="Shape 44"/>
          <p:cNvSpPr txBox="1"/>
          <p:nvPr/>
        </p:nvSpPr>
        <p:spPr>
          <a:xfrm>
            <a:off x="4876800" y="5397500"/>
            <a:ext cx="6553200" cy="685800"/>
          </a:xfrm>
          <a:prstGeom prst="rect">
            <a:avLst/>
          </a:prstGeom>
          <a:noFill/>
          <a:ln>
            <a:noFill/>
          </a:ln>
        </p:spPr>
        <p:txBody>
          <a:bodyPr wrap="square" lIns="0" tIns="0" rIns="0" bIns="0" rtlCol="0" anchor="ctr">
            <a:noAutofit/>
          </a:bodyPr>
          <a:lstStyle/>
          <a:p>
            <a:pPr algn="l">
              <a:spcBef>
                <a:spcPts val="0"/>
              </a:spcBef>
              <a:buNone/>
            </a:pPr>
            <a:r>
              <a:rPr lang="en-US" sz="1700" b="1" dirty="0">
                <a:solidFill>
                  <a:srgbClr val="0B1B33"/>
                </a:solidFill>
              </a:rPr>
              <a:t>Protect sensitive information</a:t>
            </a:r>
          </a:p>
          <a:p>
            <a:pPr algn="l">
              <a:spcBef>
                <a:spcPts val="100"/>
              </a:spcBef>
              <a:buNone/>
            </a:pPr>
            <a:r>
              <a:rPr lang="en-US" sz="1500" b="0" dirty="0">
                <a:solidFill>
                  <a:srgbClr val="475569"/>
                </a:solidFill>
              </a:rPr>
              <a:t>Share project data only with AI tools your company approves.</a:t>
            </a:r>
          </a:p>
        </p:txBody>
      </p:sp>
    </p:spTree>
    <p:extLst>
      <p:ext uri="{BB962C8B-B14F-4D97-AF65-F5344CB8AC3E}">
        <p14:creationId xmlns:p14="http://schemas.microsoft.com/office/powerpoint/2010/main" val="39322811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6CAD2-E7FD-45AC-7E2A-75DB659F3CB6}"/>
              </a:ext>
            </a:extLst>
          </p:cNvPr>
          <p:cNvSpPr>
            <a:spLocks noGrp="1"/>
          </p:cNvSpPr>
          <p:nvPr>
            <p:ph type="title"/>
          </p:nvPr>
        </p:nvSpPr>
        <p:spPr>
          <a:xfrm>
            <a:off x="609600" y="304800"/>
            <a:ext cx="10972800" cy="914400"/>
          </a:xfrm>
        </p:spPr>
        <p:txBody>
          <a:bodyPr/>
          <a:lstStyle/>
          <a:p>
            <a:pPr algn="l">
              <a:spcBef>
                <a:spcPts val="0"/>
              </a:spcBef>
              <a:buNone/>
            </a:pPr>
            <a:r>
              <a:rPr lang="en-US" sz="3200" b="1" dirty="0">
                <a:solidFill>
                  <a:srgbClr val="0B1B33"/>
                </a:solidFill>
              </a:rPr>
              <a:t>Key takeaways</a:t>
            </a:r>
          </a:p>
        </p:txBody>
      </p:sp>
      <p:sp>
        <p:nvSpPr>
          <p:cNvPr id="10" name="Shape 10"/>
          <p:cNvSpPr/>
          <p:nvPr/>
        </p:nvSpPr>
        <p:spPr>
          <a:xfrm>
            <a:off x="609600" y="1371600"/>
            <a:ext cx="5384800" cy="2184400"/>
          </a:xfrm>
          <a:prstGeom prst="roundRect">
            <a:avLst>
              <a:gd name="adj" fmla="val 5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20" name="Shape 20"/>
          <p:cNvSpPr txBox="1"/>
          <p:nvPr/>
        </p:nvSpPr>
        <p:spPr>
          <a:xfrm>
            <a:off x="914400" y="2413000"/>
            <a:ext cx="4775200" cy="1016000"/>
          </a:xfrm>
          <a:prstGeom prst="rect">
            <a:avLst/>
          </a:prstGeom>
          <a:noFill/>
          <a:ln>
            <a:noFill/>
          </a:ln>
        </p:spPr>
        <p:txBody>
          <a:bodyPr wrap="square" lIns="0" tIns="0" rIns="0" bIns="0" rtlCol="0" anchor="t">
            <a:noAutofit/>
          </a:bodyPr>
          <a:lstStyle/>
          <a:p>
            <a:pPr algn="l">
              <a:spcBef>
                <a:spcPts val="0"/>
              </a:spcBef>
              <a:buNone/>
            </a:pPr>
            <a:r>
              <a:rPr lang="en-US" sz="2000" b="1" dirty="0">
                <a:solidFill>
                  <a:srgbClr val="0B1B33"/>
                </a:solidFill>
              </a:rPr>
              <a:t>AI speeds up test analysis</a:t>
            </a:r>
          </a:p>
          <a:p>
            <a:pPr algn="l">
              <a:spcBef>
                <a:spcPts val="400"/>
              </a:spcBef>
              <a:buNone/>
            </a:pPr>
            <a:r>
              <a:rPr lang="en-US" sz="1500" b="0" dirty="0">
                <a:solidFill>
                  <a:srgbClr val="475569"/>
                </a:solidFill>
              </a:rPr>
              <a:t>It helps you find gaps in test coverage faster.</a:t>
            </a:r>
          </a:p>
        </p:txBody>
      </p:sp>
      <p:sp>
        <p:nvSpPr>
          <p:cNvPr id="11" name="Shape 11"/>
          <p:cNvSpPr/>
          <p:nvPr/>
        </p:nvSpPr>
        <p:spPr>
          <a:xfrm>
            <a:off x="6197600" y="1371600"/>
            <a:ext cx="5384800" cy="2184400"/>
          </a:xfrm>
          <a:prstGeom prst="roundRect">
            <a:avLst>
              <a:gd name="adj" fmla="val 5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21" name="Shape 21"/>
          <p:cNvSpPr txBox="1"/>
          <p:nvPr/>
        </p:nvSpPr>
        <p:spPr>
          <a:xfrm>
            <a:off x="6502400" y="2413000"/>
            <a:ext cx="4775200" cy="1016000"/>
          </a:xfrm>
          <a:prstGeom prst="rect">
            <a:avLst/>
          </a:prstGeom>
          <a:noFill/>
          <a:ln>
            <a:noFill/>
          </a:ln>
        </p:spPr>
        <p:txBody>
          <a:bodyPr wrap="square" lIns="0" tIns="0" rIns="0" bIns="0" rtlCol="0" anchor="t">
            <a:noAutofit/>
          </a:bodyPr>
          <a:lstStyle/>
          <a:p>
            <a:pPr algn="l">
              <a:spcBef>
                <a:spcPts val="0"/>
              </a:spcBef>
              <a:buNone/>
            </a:pPr>
            <a:r>
              <a:rPr lang="en-US" sz="2000" b="1" dirty="0">
                <a:solidFill>
                  <a:srgbClr val="0B1B33"/>
                </a:solidFill>
              </a:rPr>
              <a:t>Good prompts, better suggestions</a:t>
            </a:r>
          </a:p>
          <a:p>
            <a:pPr algn="l">
              <a:spcBef>
                <a:spcPts val="400"/>
              </a:spcBef>
              <a:buNone/>
            </a:pPr>
            <a:r>
              <a:rPr lang="en-US" sz="1500" b="0" dirty="0">
                <a:solidFill>
                  <a:srgbClr val="475569"/>
                </a:solidFill>
              </a:rPr>
              <a:t>Give a role, a clear task, and guardrails.</a:t>
            </a:r>
          </a:p>
        </p:txBody>
      </p:sp>
      <p:sp>
        <p:nvSpPr>
          <p:cNvPr id="12" name="Shape 12"/>
          <p:cNvSpPr/>
          <p:nvPr/>
        </p:nvSpPr>
        <p:spPr>
          <a:xfrm>
            <a:off x="609600" y="3759200"/>
            <a:ext cx="5384800" cy="2184400"/>
          </a:xfrm>
          <a:prstGeom prst="roundRect">
            <a:avLst>
              <a:gd name="adj" fmla="val 5000"/>
            </a:avLst>
          </a:prstGeom>
          <a:solidFill>
            <a:srgbClr val="FFFFFF"/>
          </a:solidFill>
          <a:ln w="25400">
            <a:solidFill>
              <a:srgbClr val="2563EB"/>
            </a:solidFill>
          </a:ln>
        </p:spPr>
        <p:txBody>
          <a:bodyPr wrap="square" lIns="127000" tIns="76200" rIns="127000" bIns="76200" rtlCol="0" anchor="t">
            <a:noAutofit/>
          </a:bodyPr>
          <a:lstStyle/>
          <a:p>
            <a:endParaRPr lang="en-US" dirty="0"/>
          </a:p>
        </p:txBody>
      </p:sp>
      <p:sp>
        <p:nvSpPr>
          <p:cNvPr id="22" name="Shape 22"/>
          <p:cNvSpPr txBox="1"/>
          <p:nvPr/>
        </p:nvSpPr>
        <p:spPr>
          <a:xfrm>
            <a:off x="914400" y="4800600"/>
            <a:ext cx="4775200" cy="1016000"/>
          </a:xfrm>
          <a:prstGeom prst="rect">
            <a:avLst/>
          </a:prstGeom>
          <a:noFill/>
          <a:ln>
            <a:noFill/>
          </a:ln>
        </p:spPr>
        <p:txBody>
          <a:bodyPr wrap="square" lIns="0" tIns="0" rIns="0" bIns="0" rtlCol="0" anchor="t">
            <a:noAutofit/>
          </a:bodyPr>
          <a:lstStyle/>
          <a:p>
            <a:pPr algn="l">
              <a:spcBef>
                <a:spcPts val="0"/>
              </a:spcBef>
              <a:buNone/>
            </a:pPr>
            <a:r>
              <a:rPr lang="en-US" sz="2000" b="1" dirty="0">
                <a:solidFill>
                  <a:srgbClr val="0B1B33"/>
                </a:solidFill>
              </a:rPr>
              <a:t>QA Engineers own test quality</a:t>
            </a:r>
          </a:p>
          <a:p>
            <a:pPr algn="l">
              <a:spcBef>
                <a:spcPts val="400"/>
              </a:spcBef>
              <a:buNone/>
            </a:pPr>
            <a:r>
              <a:rPr lang="en-US" sz="1500" b="0" dirty="0">
                <a:solidFill>
                  <a:srgbClr val="475569"/>
                </a:solidFill>
              </a:rPr>
              <a:t>Validate, run, and verify every change.</a:t>
            </a:r>
          </a:p>
        </p:txBody>
      </p:sp>
      <p:sp>
        <p:nvSpPr>
          <p:cNvPr id="13" name="Shape 13"/>
          <p:cNvSpPr/>
          <p:nvPr/>
        </p:nvSpPr>
        <p:spPr>
          <a:xfrm>
            <a:off x="6197600" y="3759200"/>
            <a:ext cx="5384800" cy="2184400"/>
          </a:xfrm>
          <a:prstGeom prst="roundRect">
            <a:avLst>
              <a:gd name="adj" fmla="val 5000"/>
            </a:avLst>
          </a:prstGeom>
          <a:solidFill>
            <a:srgbClr val="FFFFFF"/>
          </a:solidFill>
          <a:ln w="12700">
            <a:solidFill>
              <a:srgbClr val="DCE3EE"/>
            </a:solidFill>
          </a:ln>
        </p:spPr>
        <p:txBody>
          <a:bodyPr wrap="square" lIns="127000" tIns="76200" rIns="127000" bIns="76200" rtlCol="0" anchor="t">
            <a:noAutofit/>
          </a:bodyPr>
          <a:lstStyle/>
          <a:p>
            <a:endParaRPr lang="en-US" dirty="0"/>
          </a:p>
        </p:txBody>
      </p:sp>
      <p:sp>
        <p:nvSpPr>
          <p:cNvPr id="23" name="Shape 23"/>
          <p:cNvSpPr txBox="1"/>
          <p:nvPr/>
        </p:nvSpPr>
        <p:spPr>
          <a:xfrm>
            <a:off x="6502400" y="4800600"/>
            <a:ext cx="4775200" cy="1016000"/>
          </a:xfrm>
          <a:prstGeom prst="rect">
            <a:avLst/>
          </a:prstGeom>
          <a:noFill/>
          <a:ln>
            <a:noFill/>
          </a:ln>
        </p:spPr>
        <p:txBody>
          <a:bodyPr wrap="square" lIns="0" tIns="0" rIns="0" bIns="0" rtlCol="0" anchor="t">
            <a:noAutofit/>
          </a:bodyPr>
          <a:lstStyle/>
          <a:p>
            <a:pPr algn="l">
              <a:spcBef>
                <a:spcPts val="0"/>
              </a:spcBef>
              <a:buNone/>
            </a:pPr>
            <a:r>
              <a:rPr lang="en-US" sz="2000" b="1" dirty="0">
                <a:solidFill>
                  <a:srgbClr val="0B1B33"/>
                </a:solidFill>
              </a:rPr>
              <a:t>Use AI as an assistant</a:t>
            </a:r>
          </a:p>
          <a:p>
            <a:pPr algn="l">
              <a:spcBef>
                <a:spcPts val="400"/>
              </a:spcBef>
              <a:buNone/>
            </a:pPr>
            <a:r>
              <a:rPr lang="en-US" sz="1500" b="0" dirty="0">
                <a:solidFill>
                  <a:srgbClr val="475569"/>
                </a:solidFill>
              </a:rPr>
              <a:t>Not as a replacement for testing knowledge.</a:t>
            </a:r>
          </a:p>
        </p:txBody>
      </p:sp>
      <p:pic>
        <p:nvPicPr>
          <p:cNvPr id="24" name="Graphic 24" descr="AI analysis"/>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4400" y="1651000"/>
            <a:ext cx="558800" cy="558800"/>
          </a:xfrm>
          <a:prstGeom prst="rect">
            <a:avLst/>
          </a:prstGeom>
        </p:spPr>
      </p:pic>
      <p:pic>
        <p:nvPicPr>
          <p:cNvPr id="25" name="Graphic 25" descr="Prompt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02400" y="1651000"/>
            <a:ext cx="558800" cy="558800"/>
          </a:xfrm>
          <a:prstGeom prst="rect">
            <a:avLst/>
          </a:prstGeom>
        </p:spPr>
      </p:pic>
      <p:pic>
        <p:nvPicPr>
          <p:cNvPr id="26" name="Graphic 26" descr="Quality ownership"/>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4400" y="4038600"/>
            <a:ext cx="558800" cy="558800"/>
          </a:xfrm>
          <a:prstGeom prst="rect">
            <a:avLst/>
          </a:prstGeom>
        </p:spPr>
      </p:pic>
      <p:pic>
        <p:nvPicPr>
          <p:cNvPr id="27" name="Graphic 27" descr="Assistant"/>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02400" y="4038600"/>
            <a:ext cx="558800" cy="558800"/>
          </a:xfrm>
          <a:prstGeom prst="rect">
            <a:avLst/>
          </a:prstGeom>
        </p:spPr>
      </p:pic>
    </p:spTree>
    <p:extLst>
      <p:ext uri="{BB962C8B-B14F-4D97-AF65-F5344CB8AC3E}">
        <p14:creationId xmlns:p14="http://schemas.microsoft.com/office/powerpoint/2010/main" val="3368083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F3ED1-4527-B2A7-CD63-C4B4A0C438F1}"/>
              </a:ext>
            </a:extLst>
          </p:cNvPr>
          <p:cNvSpPr>
            <a:spLocks noGrp="1"/>
          </p:cNvSpPr>
          <p:nvPr>
            <p:ph type="ctrTitle"/>
          </p:nvPr>
        </p:nvSpPr>
        <p:spPr>
          <a:xfrm>
            <a:off x="914400" y="1397000"/>
            <a:ext cx="10363200" cy="2286000"/>
          </a:xfrm>
        </p:spPr>
        <p:txBody>
          <a:bodyPr/>
          <a:lstStyle/>
          <a:p>
            <a:pPr algn="l">
              <a:lnSpc>
                <a:spcPct val="95000"/>
              </a:lnSpc>
              <a:spcBef>
                <a:spcPts val="0"/>
              </a:spcBef>
              <a:buNone/>
            </a:pPr>
            <a:r>
              <a:rPr lang="en-US" sz="4000" b="1" dirty="0">
                <a:solidFill>
                  <a:srgbClr val="FFFFFF"/>
                </a:solidFill>
              </a:rPr>
              <a:t>AI is not replacing QA Engineers.</a:t>
            </a:r>
          </a:p>
          <a:p>
            <a:pPr algn="l">
              <a:lnSpc>
                <a:spcPct val="95000"/>
              </a:lnSpc>
              <a:spcBef>
                <a:spcPts val="400"/>
              </a:spcBef>
              <a:buNone/>
            </a:pPr>
            <a:r>
              <a:rPr lang="en-US" sz="4000" b="1" dirty="0">
                <a:solidFill>
                  <a:srgbClr val="60A5FA"/>
                </a:solidFill>
              </a:rPr>
              <a:t>It is helping us work smarter.</a:t>
            </a:r>
          </a:p>
        </p:txBody>
      </p:sp>
      <p:sp>
        <p:nvSpPr>
          <p:cNvPr id="3" name="Subtitle 2">
            <a:extLst>
              <a:ext uri="{FF2B5EF4-FFF2-40B4-BE49-F238E27FC236}">
                <a16:creationId xmlns:a16="http://schemas.microsoft.com/office/drawing/2014/main" id="{7377ECA5-659F-45D6-006E-4E9AD6FD0183}"/>
              </a:ext>
            </a:extLst>
          </p:cNvPr>
          <p:cNvSpPr>
            <a:spLocks noGrp="1"/>
          </p:cNvSpPr>
          <p:nvPr>
            <p:ph type="subTitle" idx="1"/>
          </p:nvPr>
        </p:nvSpPr>
        <p:spPr>
          <a:xfrm>
            <a:off x="914400" y="3810000"/>
            <a:ext cx="10363200" cy="1655762"/>
          </a:xfrm>
        </p:spPr>
        <p:txBody>
          <a:bodyPr/>
          <a:lstStyle/>
          <a:p>
            <a:pPr algn="l">
              <a:lnSpc>
                <a:spcPct val="110000"/>
              </a:lnSpc>
              <a:spcBef>
                <a:spcPts val="0"/>
              </a:spcBef>
              <a:buNone/>
            </a:pPr>
            <a:r>
              <a:rPr lang="en-US" sz="2000" b="0" dirty="0">
                <a:solidFill>
                  <a:srgbClr val="CBD5E1"/>
                </a:solidFill>
              </a:rPr>
              <a:t>Like this video, subscribe to the channel, and share your experience using AI in testing.</a:t>
            </a:r>
          </a:p>
        </p:txBody>
      </p:sp>
      <p:sp>
        <p:nvSpPr>
          <p:cNvPr id="10" name="Shape 10"/>
          <p:cNvSpPr/>
          <p:nvPr/>
        </p:nvSpPr>
        <p:spPr>
          <a:xfrm>
            <a:off x="914400" y="914400"/>
            <a:ext cx="609600" cy="50800"/>
          </a:xfrm>
          <a:prstGeom prst="rect">
            <a:avLst/>
          </a:prstGeom>
          <a:solidFill>
            <a:srgbClr val="2563EB"/>
          </a:solidFill>
          <a:ln>
            <a:noFill/>
          </a:ln>
        </p:spPr>
        <p:txBody>
          <a:bodyPr wrap="square" lIns="0" tIns="0" rIns="0" bIns="0" rtlCol="0" anchor="t">
            <a:noAutofit/>
          </a:bodyPr>
          <a:lstStyle/>
          <a:p>
            <a:endParaRPr lang="en-US" dirty="0"/>
          </a:p>
        </p:txBody>
      </p:sp>
      <p:sp>
        <p:nvSpPr>
          <p:cNvPr id="11" name="Shape 11"/>
          <p:cNvSpPr txBox="1"/>
          <p:nvPr/>
        </p:nvSpPr>
        <p:spPr>
          <a:xfrm>
            <a:off x="914400" y="1041400"/>
            <a:ext cx="5334000" cy="330200"/>
          </a:xfrm>
          <a:prstGeom prst="rect">
            <a:avLst/>
          </a:prstGeom>
          <a:noFill/>
          <a:ln>
            <a:noFill/>
          </a:ln>
        </p:spPr>
        <p:txBody>
          <a:bodyPr wrap="square" lIns="0" tIns="0" rIns="0" bIns="0" rtlCol="0" anchor="t">
            <a:noAutofit/>
          </a:bodyPr>
          <a:lstStyle/>
          <a:p>
            <a:pPr algn="l">
              <a:spcBef>
                <a:spcPts val="0"/>
              </a:spcBef>
              <a:buNone/>
            </a:pPr>
            <a:r>
              <a:rPr lang="en-US" sz="1400" b="1" dirty="0">
                <a:solidFill>
                  <a:srgbClr val="60A5FA"/>
                </a:solidFill>
              </a:rPr>
              <a:t>THANK YOU FOR WATCHING</a:t>
            </a:r>
          </a:p>
        </p:txBody>
      </p:sp>
      <p:sp>
        <p:nvSpPr>
          <p:cNvPr id="20" name="Shape 20"/>
          <p:cNvSpPr/>
          <p:nvPr/>
        </p:nvSpPr>
        <p:spPr>
          <a:xfrm>
            <a:off x="914400" y="5588000"/>
            <a:ext cx="1143000" cy="431800"/>
          </a:xfrm>
          <a:prstGeom prst="roundRect">
            <a:avLst>
              <a:gd name="adj" fmla="val 50000"/>
            </a:avLst>
          </a:prstGeom>
          <a:solidFill>
            <a:srgbClr val="13294B"/>
          </a:solidFill>
          <a:ln w="12700">
            <a:solidFill>
              <a:srgbClr val="2563EB"/>
            </a:solidFill>
          </a:ln>
        </p:spPr>
        <p:txBody>
          <a:bodyPr wrap="square" lIns="127000" tIns="0" rIns="127000" bIns="0" rtlCol="0" anchor="ctr">
            <a:noAutofit/>
          </a:bodyPr>
          <a:lstStyle/>
          <a:p>
            <a:pPr algn="ctr">
              <a:spcBef>
                <a:spcPts val="0"/>
              </a:spcBef>
              <a:buNone/>
            </a:pPr>
            <a:r>
              <a:rPr lang="en-US" sz="1400" b="1" dirty="0">
                <a:solidFill>
                  <a:srgbClr val="FFFFFF"/>
                </a:solidFill>
              </a:rPr>
              <a:t>Like</a:t>
            </a:r>
          </a:p>
        </p:txBody>
      </p:sp>
      <p:sp>
        <p:nvSpPr>
          <p:cNvPr id="21" name="Shape 21"/>
          <p:cNvSpPr/>
          <p:nvPr/>
        </p:nvSpPr>
        <p:spPr>
          <a:xfrm>
            <a:off x="2209800" y="5588000"/>
            <a:ext cx="1651000" cy="431800"/>
          </a:xfrm>
          <a:prstGeom prst="roundRect">
            <a:avLst>
              <a:gd name="adj" fmla="val 50000"/>
            </a:avLst>
          </a:prstGeom>
          <a:solidFill>
            <a:srgbClr val="2563EB"/>
          </a:solidFill>
          <a:ln w="12700">
            <a:solidFill>
              <a:srgbClr val="2563EB"/>
            </a:solidFill>
          </a:ln>
        </p:spPr>
        <p:txBody>
          <a:bodyPr wrap="square" lIns="127000" tIns="0" rIns="127000" bIns="0" rtlCol="0" anchor="ctr">
            <a:noAutofit/>
          </a:bodyPr>
          <a:lstStyle/>
          <a:p>
            <a:pPr algn="ctr">
              <a:spcBef>
                <a:spcPts val="0"/>
              </a:spcBef>
              <a:buNone/>
            </a:pPr>
            <a:r>
              <a:rPr lang="en-US" sz="1400" b="1" dirty="0">
                <a:solidFill>
                  <a:srgbClr val="FFFFFF"/>
                </a:solidFill>
              </a:rPr>
              <a:t>Subscribe</a:t>
            </a:r>
          </a:p>
        </p:txBody>
      </p:sp>
      <p:sp>
        <p:nvSpPr>
          <p:cNvPr id="22" name="Shape 22"/>
          <p:cNvSpPr/>
          <p:nvPr/>
        </p:nvSpPr>
        <p:spPr>
          <a:xfrm>
            <a:off x="4013200" y="5588000"/>
            <a:ext cx="2921000" cy="431800"/>
          </a:xfrm>
          <a:prstGeom prst="roundRect">
            <a:avLst>
              <a:gd name="adj" fmla="val 50000"/>
            </a:avLst>
          </a:prstGeom>
          <a:solidFill>
            <a:srgbClr val="13294B"/>
          </a:solidFill>
          <a:ln w="12700">
            <a:solidFill>
              <a:srgbClr val="2563EB"/>
            </a:solidFill>
          </a:ln>
        </p:spPr>
        <p:txBody>
          <a:bodyPr wrap="square" lIns="127000" tIns="0" rIns="127000" bIns="0" rtlCol="0" anchor="ctr">
            <a:noAutofit/>
          </a:bodyPr>
          <a:lstStyle/>
          <a:p>
            <a:pPr algn="ctr">
              <a:spcBef>
                <a:spcPts val="0"/>
              </a:spcBef>
              <a:buNone/>
            </a:pPr>
            <a:r>
              <a:rPr lang="en-US" sz="1400" b="1" dirty="0">
                <a:solidFill>
                  <a:srgbClr val="FFFFFF"/>
                </a:solidFill>
              </a:rPr>
              <a:t>Share in the comments</a:t>
            </a:r>
          </a:p>
        </p:txBody>
      </p:sp>
    </p:spTree>
    <p:extLst>
      <p:ext uri="{BB962C8B-B14F-4D97-AF65-F5344CB8AC3E}">
        <p14:creationId xmlns:p14="http://schemas.microsoft.com/office/powerpoint/2010/main" val="2461636949"/>
      </p:ext>
    </p:extLst>
  </p:cSld>
  <p:clrMapOvr>
    <a:masterClrMapping/>
  </p:clrMapOvr>
</p:sld>
</file>

<file path=ppt/theme/theme1.xml><?xml version="1.0" encoding="utf-8"?>
<a:theme xmlns:a="http://schemas.openxmlformats.org/drawingml/2006/main" name="Office Theme [1791617932090]">
  <a:themeElements>
    <a:clrScheme name="Copilot QA">
      <a:dk1>
        <a:srgbClr val="0B1B33"/>
      </a:dk1>
      <a:lt1>
        <a:srgbClr val="FFFFFF"/>
      </a:lt1>
      <a:dk2>
        <a:srgbClr val="13294B"/>
      </a:dk2>
      <a:lt2>
        <a:srgbClr val="EEF3FA"/>
      </a:lt2>
      <a:accent1>
        <a:srgbClr val="2563EB"/>
      </a:accent1>
      <a:accent2>
        <a:srgbClr val="0EA5E9"/>
      </a:accent2>
      <a:accent3>
        <a:srgbClr val="64748B"/>
      </a:accent3>
      <a:accent4>
        <a:srgbClr val="16A34A"/>
      </a:accent4>
      <a:accent5>
        <a:srgbClr val="D97706"/>
      </a:accent5>
      <a:accent6>
        <a:srgbClr val="94A3B8"/>
      </a:accent6>
      <a:hlink>
        <a:srgbClr val="2563EB"/>
      </a:hlink>
      <a:folHlink>
        <a:srgbClr val="7C3AED"/>
      </a:folHlink>
    </a:clrScheme>
    <a:fontScheme name="Office">
      <a:majorFont>
        <a:latin typeface="Segoe UI Semibold"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21CC276-A15B-4643-8738-2526D2228593}">
  <we:reference id="WA200010725" version="1.0.0.1" store="Omex" storeType="OMEX"/>
  <we:alternateReferences>
    <we:reference id="WA200010725" version="1.0.0.1" store="WA200010725" storeType="OMEX"/>
  </we:alternateReferences>
  <we:properties>
    <we:property name="claude.fileId" value="&quot;6e7c79c0-b493-40a8-8c12-03390fa58d28&quot;"/>
  </we:properties>
  <we:bindings/>
  <we:snapshot xmlns:r="http://schemas.openxmlformats.org/officeDocument/2006/relationships"/>
</we:webextension>
</file>

<file path=docMetadata/LabelInfo.xml><?xml version="1.0" encoding="utf-8"?>
<clbl:labelList xmlns:clbl="http://schemas.microsoft.com/office/2020/mipLabelMetadata">
  <clbl:label id="{80b73340-719a-4a36-a8dc-b4cc389899a2}" enabled="1" method="Standard" siteId="{526b8ab1-b977-4460-8087-39fd2ef8859e}" contentBits="1" removed="0"/>
</clbl:labelList>
</file>

<file path=docProps/app.xml><?xml version="1.0" encoding="utf-8"?>
<Properties xmlns="http://schemas.openxmlformats.org/officeDocument/2006/extended-properties" xmlns:vt="http://schemas.openxmlformats.org/officeDocument/2006/docPropsVTypes">
  <TotalTime>537</TotalTime>
  <Words>2553</Words>
  <Application>Microsoft Office PowerPoint</Application>
  <PresentationFormat>Widescreen</PresentationFormat>
  <Paragraphs>284</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Consolas</vt:lpstr>
      <vt:lpstr>Segoe UI</vt:lpstr>
      <vt:lpstr>Segoe UI Semibold</vt:lpstr>
      <vt:lpstr>Office Theme [1791617932090]</vt:lpstr>
      <vt:lpstr>Using GitHub Copilot with Playwright AI-Assisted Test Automation</vt:lpstr>
      <vt:lpstr>What will we learn?</vt:lpstr>
      <vt:lpstr>Prerequisites</vt:lpstr>
      <vt:lpstr>Understand the project structure</vt:lpstr>
      <vt:lpstr>Open GitHub Copilot Chat</vt:lpstr>
      <vt:lpstr>Our practical example: the real checkout tests</vt:lpstr>
      <vt:lpstr>The prompt we give Copilot</vt:lpstr>
      <vt:lpstr>Review Copilot’s response</vt:lpstr>
      <vt:lpstr>Improve test coverage</vt:lpstr>
      <vt:lpstr>Important limitations</vt:lpstr>
      <vt:lpstr>Key takeaways</vt:lpstr>
      <vt:lpstr>AI is not replacing QA Engineers. It is helping us work smarter.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Zaynab Ragab Abdulhasib</dc:creator>
  <cp:lastModifiedBy>Zaynab Ragab Abdulhasib</cp:lastModifiedBy>
  <cp:revision>4</cp:revision>
  <dcterms:created xsi:type="dcterms:W3CDTF">2026-10-10T07:38:24Z</dcterms:created>
  <dcterms:modified xsi:type="dcterms:W3CDTF">2026-10-10T16:35:45Z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Office Theme:8</vt:lpwstr>
  </property>
  <property fmtid="{D5CDD505-2E9C-101B-9397-08002B2CF9AE}" pid="3" name="ClassificationContentMarkingHeaderText">
    <vt:lpwstr>public access</vt:lpwstr>
  </property>
</Properties>
</file>